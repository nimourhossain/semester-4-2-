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22" y="-90"/>
      </p:cViewPr>
      <p:guideLst>
        <p:guide orient="horz" pos="2160"/>
        <p:guide pos="37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130F5-2B9B-421E-80CD-88287242524B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685800"/>
            <a:ext cx="5943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24DF3-4E66-498C-9ED5-669ED64B1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7033240" y="459011"/>
            <a:ext cx="485396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7033263" y="520701"/>
            <a:ext cx="4853941" cy="15869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7429500" y="685801"/>
            <a:ext cx="4457703" cy="45156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7441883" y="766112"/>
            <a:ext cx="2555748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7503795" y="810481"/>
            <a:ext cx="2555748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033260" y="611409"/>
            <a:ext cx="3982212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589459" y="633792"/>
            <a:ext cx="208026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07160"/>
            <a:ext cx="11887200" cy="20179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3" y="324045"/>
            <a:ext cx="11887201" cy="11626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8338266" y="292100"/>
            <a:ext cx="3548935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2" y="2"/>
            <a:ext cx="11887199" cy="304798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74059" y="1295402"/>
            <a:ext cx="10995660" cy="1470025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rgbClr val="D25500"/>
                </a:solidFill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21331" y="3124200"/>
            <a:ext cx="6438900" cy="1752600"/>
          </a:xfrm>
        </p:spPr>
        <p:txBody>
          <a:bodyPr anchor="ctr">
            <a:normAutofit/>
          </a:bodyPr>
          <a:lstStyle>
            <a:lvl1pPr marL="64008" indent="0" algn="ctr">
              <a:buNone/>
              <a:defRPr sz="2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" y="6388100"/>
            <a:ext cx="1248156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896600" y="1136"/>
            <a:ext cx="891540" cy="303664"/>
          </a:xfrm>
        </p:spPr>
        <p:txBody>
          <a:bodyPr/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654" y="6094018"/>
            <a:ext cx="939081" cy="722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85800"/>
            <a:ext cx="10698480" cy="10668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98480" cy="432511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244443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1981202"/>
            <a:ext cx="1010412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9007" y="3367088"/>
            <a:ext cx="1010412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85800"/>
            <a:ext cx="10698480" cy="10668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1765301"/>
            <a:ext cx="525018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2660" y="1765301"/>
            <a:ext cx="525018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-16510" y="6413500"/>
            <a:ext cx="1244443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143000"/>
            <a:ext cx="108966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2244971"/>
            <a:ext cx="5254142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37596" y="2244971"/>
            <a:ext cx="525430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95300" y="2708519"/>
            <a:ext cx="5254142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33798" y="2708519"/>
            <a:ext cx="525430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143000"/>
            <a:ext cx="1069848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58784" y="612648"/>
            <a:ext cx="1244443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35140" y="612648"/>
            <a:ext cx="172364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27157" y="2272"/>
            <a:ext cx="9906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545" y="1101971"/>
            <a:ext cx="4398264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959545" y="2010727"/>
            <a:ext cx="4398264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8120" y="776287"/>
            <a:ext cx="6633058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567" y="1109161"/>
            <a:ext cx="76284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4772" y="1143000"/>
            <a:ext cx="59436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4976" y="3274310"/>
            <a:ext cx="336804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6340" y="1143000"/>
            <a:ext cx="24765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1143000"/>
            <a:ext cx="812292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654" y="6094018"/>
            <a:ext cx="939081" cy="72237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" y="366820"/>
            <a:ext cx="118872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2"/>
            <a:ext cx="118872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3" y="308278"/>
            <a:ext cx="118872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7033240" y="360248"/>
            <a:ext cx="485396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7033263" y="440114"/>
            <a:ext cx="485394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029541" y="497504"/>
            <a:ext cx="3982212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585740" y="588943"/>
            <a:ext cx="208026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11810456" y="-2001"/>
            <a:ext cx="74914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1757825" y="-2001"/>
            <a:ext cx="3566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1733057" y="-2001"/>
            <a:ext cx="11887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11668050" y="-2001"/>
            <a:ext cx="3566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11590380" y="380"/>
            <a:ext cx="71323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11535518" y="380"/>
            <a:ext cx="11887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594360" y="1143000"/>
            <a:ext cx="1069848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594360" y="2249424"/>
            <a:ext cx="1069848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62497" y="612648"/>
            <a:ext cx="1244443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835140" y="612648"/>
            <a:ext cx="1723644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627157" y="2272"/>
            <a:ext cx="9906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Cryptography and Network Security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Cryptography Overview and Terminologies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266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Security Goals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6339840" cy="432511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Confidentiality:</a:t>
            </a:r>
          </a:p>
          <a:p>
            <a:pPr lvl="1">
              <a:spcAft>
                <a:spcPts val="6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Protect information against any malicious attacks</a:t>
            </a:r>
          </a:p>
          <a:p>
            <a:pPr lvl="1">
              <a:spcAft>
                <a:spcPts val="6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Conceal information during transmission too.</a:t>
            </a:r>
          </a:p>
          <a:p>
            <a:pPr>
              <a:spcAft>
                <a:spcPts val="6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Integrity:</a:t>
            </a:r>
          </a:p>
          <a:p>
            <a:pPr lvl="1">
              <a:spcAft>
                <a:spcPts val="6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Changes of information need to be done only by authorized entities.</a:t>
            </a:r>
          </a:p>
          <a:p>
            <a:pPr>
              <a:spcAft>
                <a:spcPts val="6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Availability:</a:t>
            </a:r>
          </a:p>
          <a:p>
            <a:pPr lvl="1">
              <a:spcAft>
                <a:spcPts val="6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Information needs to be available to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authorized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entities.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945" y="2438400"/>
            <a:ext cx="5105399" cy="156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0002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578" y="2819401"/>
            <a:ext cx="6388331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Security Attacks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61112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Our three goals of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security – confidentiality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integrity, and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availability –  can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threatened by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security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attacks.</a:t>
            </a: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categories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are divided |into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three groups related to the security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goals.</a:t>
            </a:r>
          </a:p>
        </p:txBody>
      </p:sp>
    </p:spTree>
    <p:extLst>
      <p:ext uri="{BB962C8B-B14F-4D97-AF65-F5344CB8AC3E}">
        <p14:creationId xmlns:p14="http://schemas.microsoft.com/office/powerpoint/2010/main" val="129131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Attacks Threatening Confidentiality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69494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Snooping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– </a:t>
            </a: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unauthorized access to or interception of data.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 unauthorized entity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may intercept the transmission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of files using any program or utility that performs a monitoring function. </a:t>
            </a: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prevent snooping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the data can be made nonintelligible to the intercepter by using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encipherment techniques.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048" y="3865947"/>
            <a:ext cx="5005435" cy="2957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2862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Attacks Threatening Confidentiality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Traffic </a:t>
            </a: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Analysis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Although encipherment of data may make it nonintelligible for the intercepter,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he can obtain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some other type information by monitoring online traffic.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example,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he can find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electronic address (such as the e-mail address) of the sender or the receiver.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 can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collect pairs of requests and responses to help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him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guess the nature of transaction.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15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Attacks Threatening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Modification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After intercepting or accessing information, the attacker modifies the information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make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it beneficial to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himself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example, a customer sends a message to a bank to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do some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transaction. The attacker intercepts the message and changes the type of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transaction to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benefit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himself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Note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that sometimes the attacker simply deletes or delays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message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harm the system or to benefit from it.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399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Attacks Threatening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68732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Masquerading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Masquerading, or spoofing, happens when the attacker impersonates somebody else.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example, an attacker might steal the bank card and PIN of a bank customer and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pretend that 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is that customer.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Sometimes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attacker pretends instead to be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receiver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entity. For example, a user tries to contact a bank, but another site pretends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that it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is the bank and obtains some information from the user.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367" y="4264050"/>
            <a:ext cx="4526343" cy="2566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6399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Attacks Threatening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64922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Replaying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attacker obtains a copy of a message sent by a user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later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tries to replay it.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example, a person sends a request to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bank to ask for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payment to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attacker, who has done a job for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him.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attacker intercepts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message and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sends it again to receive another payment from the bank.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665" y="4081896"/>
            <a:ext cx="4901045" cy="2727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1738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Attacks Threatening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Repudiation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type of attack is different from others because it is performed by one of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two parties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the communication: the sender or the receiver.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sender of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message might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later deny that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has sent the message; the receiver of the message might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later deny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that he has received the message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example, denial by the sender would be a bank customer asking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bank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send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some money to a third party but later denying that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has made such a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request.</a:t>
            </a: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 example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of denial by the receiver could occur when a person buys a product from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manufacturer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pays for it electronically, but the manufacturer later denies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having received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payment and asks to be paid.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808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Attacks Threatening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Denial of </a:t>
            </a: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Service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Denial of service (DoS) is a very common attack. It may slow down or totally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interrupt 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service of a system.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attacker can use several strategies to achieve this. H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 might send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so many bogus requests to a server that the server crashes because of the heavy load.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attacker might intercept and delete a server’s response to a client, making the client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believe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that the server is not responding.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attacker may also intercept requests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from 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clients, causing the clients to send requests many times and overload the system.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286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Passive Versus Active Attacks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a passive attack, the attacker’s goal is just to obtain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information.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 active attack may change the data or harm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system.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124200"/>
            <a:ext cx="9467850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0340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Services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Five services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have been designed to prevent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security attacks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that we have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mentioned.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71800"/>
            <a:ext cx="10017906" cy="269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71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Mechanisms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828800"/>
            <a:ext cx="5016367" cy="486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0810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Mechanisms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Encipherment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– hiding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or covering data, can provide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confidentiality.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Today two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techniques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cryptography and steganography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used for enciphering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integrity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appends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the data a short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checkvalue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receiver receives the data and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checkvalue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He creates a new checkvalue from the received data and compares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newly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created checkvalue with the one received. If the two checkvalues are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same, 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integrity of data has been preserved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signature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sender can electronically sign the data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receiver can electronically verify the signature. The sender uses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a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public key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receiver uses the sender’s public key to prove that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message is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indeed signed by the sender who claims to have sent the message.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609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Mechanisms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Authentication exchange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entities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exchange some messages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prove their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identity to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each other. For example, one entity can prove that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knows a secret that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only 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is supposed to know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Traffic padding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inserting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bogus data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into the data traffic to thwart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adversary’s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attempt to use the traffic analysis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Routing control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selecting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continuously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changing different available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routes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sender and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receiver.</a:t>
            </a:r>
          </a:p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Notarization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selecting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third trusted party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control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communication between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two entities.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can be done, for example, to prevent repudiation.</a:t>
            </a:r>
          </a:p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Access control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methods to prove that a user has access right to the data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or resources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owned by a system. Examples of proofs are passwords and PINs.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712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 between security services and security mechanisms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199"/>
            <a:ext cx="10515600" cy="2903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7529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TECHNIQUES: Cryptography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Cryptography, a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word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with Greek origins, means “secret writing.”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It is the science and art of transforming messages to make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them secure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immune to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attacks.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past cryptography referred only to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encryption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decryption of messages using secret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keys.</a:t>
            </a: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 present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it is defined as involving three distinct mechanisms: symmetric-key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encipherment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asymmetric-key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encipherment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hashing.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34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345446"/>
            <a:ext cx="5181600" cy="251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TECHNIQUES: Cryptography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Symmetric-Key </a:t>
            </a:r>
            <a:r>
              <a:rPr lang="en-US" sz="2200" b="1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Encipherment</a:t>
            </a: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Symmetric-key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encipherment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uses a single secret key for both encryption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decryption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Encryption/decryption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can be thought of as electronic locking.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symmetric-key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enciphering,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person puts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message in a box and locks the box using the shared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secret key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another person unlocks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box with the same key and takes out the message.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569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TECHNIQUES: Cryptography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Asymmetric-Key </a:t>
            </a:r>
            <a:r>
              <a:rPr lang="en-US" sz="2200" b="1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Encipherment</a:t>
            </a: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have the same situation as the symmetric-key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encipherment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with a few exceptions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First, there are two keys instead of one: one 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public key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one 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private key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send a secured message to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person 2, person 1 first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encrypts the message using person 2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’s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public key. To decrypt the message, person 2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uses his own private key.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243" y="4414623"/>
            <a:ext cx="5120597" cy="2441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3432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TECHNIQUES: Cryptography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Hashing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fixed-length message digest is created out of a variable-length message.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digest is normally much smaller than the message.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be useful, both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message and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digest must be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sent.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Hashing is used to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US" sz="22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checkvalues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to provide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integrity.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544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TECHNIQUES: Steganography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word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steganography, with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origin in Greek, means “covered writing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,”.</a:t>
            </a: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Steganography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means concealing the message itself by covering it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with something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else.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Today, any form of data, such as text, image, audio, or video, can be digitized, and it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is possible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insert secret binary information into the data during digitization process.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275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TECHNIQUES: Steganography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Text </a:t>
            </a: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Cover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cover of secret data can be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text.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For example, we can use single space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between words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represent the binary digit 0 and double space to represent binary digit 1.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following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short message hides the 8-bit binary representation of the letter A in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ASCII code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(01000001).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823169"/>
            <a:ext cx="8733081" cy="1373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5021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TECHNIQUES: Steganography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864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Image </a:t>
            </a: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Cover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Secret data can also be covered under a color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image.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have 2</a:t>
            </a:r>
            <a:r>
              <a:rPr lang="en-US" sz="2200" baseline="30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different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shades of each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color.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a method called LSB (least significant bit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), 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least significant bit of each byte is set to zero. This may make the image a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little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bit lighter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some areas, but this is not normally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noticed.</a:t>
            </a: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can hide a binary data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image by keeping or changing the least significant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bit.</a:t>
            </a:r>
          </a:p>
          <a:p>
            <a:pPr lvl="1">
              <a:spcAft>
                <a:spcPts val="1200"/>
              </a:spcAft>
            </a:pP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808" y="5153025"/>
            <a:ext cx="6619875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99509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bdullah">
  <a:themeElements>
    <a:clrScheme name="Custom 1">
      <a:dk1>
        <a:srgbClr val="5C2E14"/>
      </a:dk1>
      <a:lt1>
        <a:srgbClr val="FFFFFF"/>
      </a:lt1>
      <a:dk2>
        <a:srgbClr val="214B2B"/>
      </a:dk2>
      <a:lt2>
        <a:srgbClr val="DEDEDE"/>
      </a:lt2>
      <a:accent1>
        <a:srgbClr val="53548A"/>
      </a:accent1>
      <a:accent2>
        <a:srgbClr val="57B56D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Abdullah</Template>
  <TotalTime>1083</TotalTime>
  <Words>1483</Words>
  <Application>Microsoft Office PowerPoint</Application>
  <PresentationFormat>Custom</PresentationFormat>
  <Paragraphs>101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Abdullah</vt:lpstr>
      <vt:lpstr>Cryptography and Network Security</vt:lpstr>
      <vt:lpstr>Security Goals</vt:lpstr>
      <vt:lpstr>Security Attacks</vt:lpstr>
      <vt:lpstr>Attacks Threatening Confidentiality</vt:lpstr>
      <vt:lpstr>Attacks Threatening Confidentiality</vt:lpstr>
      <vt:lpstr>Attacks Threatening Integrity</vt:lpstr>
      <vt:lpstr>Attacks Threatening Integrity</vt:lpstr>
      <vt:lpstr>Attacks Threatening Integrity</vt:lpstr>
      <vt:lpstr>Attacks Threatening Integrity</vt:lpstr>
      <vt:lpstr>Attacks Threatening Availability</vt:lpstr>
      <vt:lpstr>Passive Versus Active Attacks</vt:lpstr>
      <vt:lpstr>Security Services</vt:lpstr>
      <vt:lpstr>Security Mechanisms</vt:lpstr>
      <vt:lpstr>Security Mechanisms</vt:lpstr>
      <vt:lpstr>Security Mechanisms</vt:lpstr>
      <vt:lpstr>Relation between security services and security mechanisms</vt:lpstr>
      <vt:lpstr>TECHNIQUES: Cryptography</vt:lpstr>
      <vt:lpstr>TECHNIQUES: Cryptography</vt:lpstr>
      <vt:lpstr>TECHNIQUES: Cryptography</vt:lpstr>
      <vt:lpstr>TECHNIQUES: Cryptography</vt:lpstr>
      <vt:lpstr>TECHNIQUES: Steganography</vt:lpstr>
      <vt:lpstr>TECHNIQUES: Steganography</vt:lpstr>
      <vt:lpstr>TECHNIQUES: Steganography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Systems Design</dc:title>
  <dc:creator>Abdullah</dc:creator>
  <cp:lastModifiedBy>Muhammad</cp:lastModifiedBy>
  <cp:revision>134</cp:revision>
  <dcterms:created xsi:type="dcterms:W3CDTF">2006-08-16T00:00:00Z</dcterms:created>
  <dcterms:modified xsi:type="dcterms:W3CDTF">2022-12-26T05:40:47Z</dcterms:modified>
</cp:coreProperties>
</file>