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86" r:id="rId6"/>
    <p:sldId id="281" r:id="rId7"/>
    <p:sldId id="259" r:id="rId8"/>
    <p:sldId id="279" r:id="rId9"/>
    <p:sldId id="280" r:id="rId10"/>
    <p:sldId id="282" r:id="rId11"/>
    <p:sldId id="283" r:id="rId12"/>
    <p:sldId id="285" r:id="rId13"/>
    <p:sldId id="287" r:id="rId14"/>
  </p:sldIdLst>
  <p:sldSz cx="118872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822" y="-96"/>
      </p:cViewPr>
      <p:guideLst>
        <p:guide orient="horz" pos="2160"/>
        <p:guide pos="374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0130F5-2B9B-421E-80CD-88287242524B}" type="datetimeFigureOut">
              <a:rPr lang="en-US" smtClean="0"/>
              <a:t>2/19/2023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685800"/>
            <a:ext cx="59436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B24DF3-4E66-498C-9ED5-669ED64B1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228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7033240" y="459011"/>
            <a:ext cx="485396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7033263" y="520701"/>
            <a:ext cx="4853941" cy="15869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7429500" y="685801"/>
            <a:ext cx="4457703" cy="45156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7441883" y="766112"/>
            <a:ext cx="2555748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7503795" y="810481"/>
            <a:ext cx="2555748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7033260" y="611409"/>
            <a:ext cx="3982212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9589459" y="633792"/>
            <a:ext cx="208026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07160"/>
            <a:ext cx="11887200" cy="20179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3" y="324045"/>
            <a:ext cx="11887201" cy="11626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8338266" y="292100"/>
            <a:ext cx="3548935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2" y="2"/>
            <a:ext cx="11887199" cy="304798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74059" y="1295402"/>
            <a:ext cx="10995660" cy="1470025"/>
          </a:xfrm>
        </p:spPr>
        <p:txBody>
          <a:bodyPr anchor="ctr">
            <a:normAutofit/>
          </a:bodyPr>
          <a:lstStyle>
            <a:lvl1pPr algn="ctr">
              <a:defRPr sz="4400" b="1">
                <a:solidFill>
                  <a:srgbClr val="D25500"/>
                </a:solidFill>
                <a:latin typeface="+mn-lt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021331" y="3124200"/>
            <a:ext cx="6438900" cy="1752600"/>
          </a:xfrm>
        </p:spPr>
        <p:txBody>
          <a:bodyPr anchor="ctr">
            <a:normAutofit/>
          </a:bodyPr>
          <a:lstStyle>
            <a:lvl1pPr marL="64008" indent="0" algn="ctr">
              <a:buNone/>
              <a:defRPr sz="2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" y="6388100"/>
            <a:ext cx="1248156" cy="457200"/>
          </a:xfrm>
        </p:spPr>
        <p:txBody>
          <a:bodyPr anchor="ctr"/>
          <a:lstStyle>
            <a:lvl1pPr algn="ctr">
              <a:defRPr sz="1050"/>
            </a:lvl1pPr>
          </a:lstStyle>
          <a:p>
            <a:fld id="{1D8BD707-D9CF-40AE-B4C6-C98DA3205C09}" type="datetimeFigureOut">
              <a:rPr lang="en-US" smtClean="0"/>
              <a:pPr/>
              <a:t>2/19/2023</a:t>
            </a:fld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0896600" y="1136"/>
            <a:ext cx="891540" cy="303664"/>
          </a:xfrm>
        </p:spPr>
        <p:txBody>
          <a:bodyPr/>
          <a:lstStyle>
            <a:lvl1pPr algn="r">
              <a:defRPr sz="200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654" y="6094018"/>
            <a:ext cx="939081" cy="7223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685800"/>
            <a:ext cx="10698480" cy="10668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10698480" cy="432511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00800"/>
            <a:ext cx="1244443" cy="457200"/>
          </a:xfrm>
        </p:spPr>
        <p:txBody>
          <a:bodyPr anchor="ctr"/>
          <a:lstStyle>
            <a:lvl1pPr algn="ctr">
              <a:defRPr sz="1050"/>
            </a:lvl1pPr>
          </a:lstStyle>
          <a:p>
            <a:fld id="{1D8BD707-D9CF-40AE-B4C6-C98DA3205C09}" type="datetimeFigureOut">
              <a:rPr lang="en-US" smtClean="0"/>
              <a:pPr/>
              <a:t>2/19/2023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9007" y="1981202"/>
            <a:ext cx="1010412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9007" y="3367088"/>
            <a:ext cx="1010412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685800"/>
            <a:ext cx="10698480" cy="10668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1765301"/>
            <a:ext cx="525018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42660" y="1765301"/>
            <a:ext cx="525018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-16510" y="6413500"/>
            <a:ext cx="1244443" cy="457200"/>
          </a:xfrm>
        </p:spPr>
        <p:txBody>
          <a:bodyPr anchor="ctr"/>
          <a:lstStyle>
            <a:lvl1pPr algn="ctr">
              <a:defRPr sz="1050"/>
            </a:lvl1pPr>
          </a:lstStyle>
          <a:p>
            <a:fld id="{1D8BD707-D9CF-40AE-B4C6-C98DA3205C09}" type="datetimeFigureOut">
              <a:rPr lang="en-US" smtClean="0"/>
              <a:pPr/>
              <a:t>2/19/2023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1143000"/>
            <a:ext cx="108966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2244971"/>
            <a:ext cx="5254142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37596" y="2244971"/>
            <a:ext cx="525430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95300" y="2708519"/>
            <a:ext cx="5254142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33798" y="2708519"/>
            <a:ext cx="525430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2/19/2023</a:t>
            </a:fld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143000"/>
            <a:ext cx="1069848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558784" y="612648"/>
            <a:ext cx="1244443" cy="4572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2/19/2023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35140" y="612648"/>
            <a:ext cx="1723644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627157" y="2272"/>
            <a:ext cx="9906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59545" y="1101971"/>
            <a:ext cx="4398264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959545" y="2010727"/>
            <a:ext cx="4398264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98120" y="776287"/>
            <a:ext cx="6633058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2567" y="1109161"/>
            <a:ext cx="762844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24772" y="1143000"/>
            <a:ext cx="59436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4976" y="3274310"/>
            <a:ext cx="336804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6340" y="1143000"/>
            <a:ext cx="24765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1143000"/>
            <a:ext cx="812292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654" y="6094018"/>
            <a:ext cx="939081" cy="72237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1" y="366820"/>
            <a:ext cx="118872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2"/>
            <a:ext cx="118872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3" y="308278"/>
            <a:ext cx="118872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7033240" y="360248"/>
            <a:ext cx="485396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7033263" y="440114"/>
            <a:ext cx="485394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7029541" y="497504"/>
            <a:ext cx="3982212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9585740" y="588943"/>
            <a:ext cx="208026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11810456" y="-2001"/>
            <a:ext cx="74914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11757825" y="-2001"/>
            <a:ext cx="3566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11733057" y="-2001"/>
            <a:ext cx="11887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11668050" y="-2001"/>
            <a:ext cx="3566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11590380" y="380"/>
            <a:ext cx="71323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11535518" y="380"/>
            <a:ext cx="11887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594360" y="1143000"/>
            <a:ext cx="1069848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594360" y="2249424"/>
            <a:ext cx="1069848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62497" y="612648"/>
            <a:ext cx="1244443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835140" y="612648"/>
            <a:ext cx="1723644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627157" y="2272"/>
            <a:ext cx="9906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Cryptography and Network Security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Visual Cryptography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3266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10835640" cy="4325112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Visual cryptography is a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 cryptographic technique which allows visual information (pictures, text, etc.) to be encrypted in such a way that decryption becomes a mechanical operation that does not require a computer.</a:t>
            </a:r>
          </a:p>
          <a:p>
            <a:pPr>
              <a:spcAft>
                <a:spcPts val="6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Such a technique thus would be lucrative for defense and security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Plaintext is as an image.</a:t>
            </a:r>
          </a:p>
          <a:p>
            <a:pPr>
              <a:spcAft>
                <a:spcPts val="6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Encryption involves creating “shares” of the image which in a sense will be a piece of the image.</a:t>
            </a:r>
          </a:p>
          <a:p>
            <a:pPr>
              <a:spcAft>
                <a:spcPts val="6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Give the shares to the respective holders.</a:t>
            </a:r>
          </a:p>
          <a:p>
            <a:pPr>
              <a:spcAft>
                <a:spcPts val="6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Decryption – involving bringing together the an appropriate combination and the human visual system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22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0002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Concept of Secrecy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10530840" cy="4325112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Two or more share images are produced from a secret image.</a:t>
            </a:r>
          </a:p>
          <a:p>
            <a:pPr>
              <a:spcAft>
                <a:spcPts val="12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secret image can only be revealed when all of the share images are brought together.  </a:t>
            </a:r>
            <a:endParaRPr lang="en-US" sz="2200" baseline="-250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2" descr="D:\Buffer\Semester-7\SIL765\Project\Visual_crypto_animation_demo.gif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0" y="3200400"/>
            <a:ext cx="7749540" cy="2286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91317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Concept of Secrecy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10607040" cy="4325112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Basically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it involves dividing the image into two parts:</a:t>
            </a:r>
          </a:p>
          <a:p>
            <a:pPr lvl="1">
              <a:spcAft>
                <a:spcPts val="12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Key : a transparency</a:t>
            </a:r>
          </a:p>
          <a:p>
            <a:pPr lvl="1">
              <a:spcAft>
                <a:spcPts val="12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Cipher : a printed page</a:t>
            </a:r>
          </a:p>
          <a:p>
            <a:pPr>
              <a:spcAft>
                <a:spcPts val="12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Separately, they are random noise</a:t>
            </a:r>
          </a:p>
          <a:p>
            <a:pPr>
              <a:spcAft>
                <a:spcPts val="12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Combination reveals an image</a:t>
            </a:r>
          </a:p>
          <a:p>
            <a:pPr>
              <a:spcAft>
                <a:spcPts val="1200"/>
              </a:spcAft>
            </a:pP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5150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Secret Sharing - Visual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Refers to a method of sharing a secret to a group of participants.</a:t>
            </a:r>
          </a:p>
          <a:p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Dealer provides a transparency to each one of the n users.</a:t>
            </a:r>
          </a:p>
          <a:p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Any k of them can see the secret by stacking their transparencies, but any k-1 of them gain no information about it.</a:t>
            </a:r>
          </a:p>
          <a:p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Main result of the paper include practical implementations for small values of k and n.</a:t>
            </a:r>
          </a:p>
          <a:p>
            <a:endParaRPr lang="en-US" sz="22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056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Background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10607040" cy="4325112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image will be represented as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black and white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pixels</a:t>
            </a:r>
          </a:p>
          <a:p>
            <a:pPr>
              <a:spcAft>
                <a:spcPts val="1200"/>
              </a:spcAft>
            </a:pPr>
            <a:r>
              <a:rPr lang="en-US" sz="22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Grey Level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: The brightness value assigned to a pixel; values range from black, through gray, to white.</a:t>
            </a:r>
          </a:p>
          <a:p>
            <a:pPr>
              <a:spcAft>
                <a:spcPts val="1200"/>
              </a:spcAft>
            </a:pPr>
            <a:r>
              <a:rPr lang="en-US" sz="22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Hamming Weight (H(V)):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number of non-zero symbols in a symbol sequence.</a:t>
            </a:r>
          </a:p>
          <a:p>
            <a:pPr>
              <a:spcAft>
                <a:spcPts val="12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Concept of qualified and forbidden set of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participants.</a:t>
            </a:r>
            <a:endParaRPr lang="en-US" sz="22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1414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Encoding the Pixels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72200" y="1952625"/>
            <a:ext cx="476250" cy="409575"/>
          </a:xfrm>
          <a:prstGeom prst="rect">
            <a:avLst/>
          </a:prstGeom>
          <a:noFill/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229600" y="1952625"/>
            <a:ext cx="457200" cy="398463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91200" y="3219450"/>
            <a:ext cx="1066800" cy="485775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</p:pic>
      <p:pic>
        <p:nvPicPr>
          <p:cNvPr id="8" name="Picture 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001000" y="3219450"/>
            <a:ext cx="1066800" cy="485775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</p:pic>
      <p:pic>
        <p:nvPicPr>
          <p:cNvPr id="9" name="Picture 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001000" y="4362450"/>
            <a:ext cx="1066800" cy="485775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</p:pic>
      <p:pic>
        <p:nvPicPr>
          <p:cNvPr id="10" name="Picture 10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791200" y="4362450"/>
            <a:ext cx="1066800" cy="428625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</p:pic>
      <p:pic>
        <p:nvPicPr>
          <p:cNvPr id="11" name="Picture 1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001000" y="5610225"/>
            <a:ext cx="1066800" cy="485775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</p:pic>
      <p:pic>
        <p:nvPicPr>
          <p:cNvPr id="12" name="Picture 1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91200" y="5610225"/>
            <a:ext cx="1066800" cy="438150"/>
          </a:xfrm>
          <a:prstGeom prst="rect">
            <a:avLst/>
          </a:prstGeom>
          <a:noFill/>
        </p:spPr>
      </p:pic>
      <p:sp>
        <p:nvSpPr>
          <p:cNvPr id="13" name="Line 13"/>
          <p:cNvSpPr>
            <a:spLocks noChangeShapeType="1"/>
          </p:cNvSpPr>
          <p:nvPr/>
        </p:nvSpPr>
        <p:spPr bwMode="auto">
          <a:xfrm>
            <a:off x="5410200" y="5153025"/>
            <a:ext cx="1752600" cy="0"/>
          </a:xfrm>
          <a:prstGeom prst="line">
            <a:avLst/>
          </a:prstGeom>
          <a:noFill/>
          <a:ln w="22225">
            <a:solidFill>
              <a:schemeClr val="bg2">
                <a:lumMod val="10000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7696200" y="5153025"/>
            <a:ext cx="1828800" cy="0"/>
          </a:xfrm>
          <a:prstGeom prst="line">
            <a:avLst/>
          </a:prstGeom>
          <a:noFill/>
          <a:ln w="22225">
            <a:solidFill>
              <a:schemeClr val="bg2">
                <a:lumMod val="10000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2743200" y="1952625"/>
            <a:ext cx="8162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Pixel</a:t>
            </a:r>
            <a:endParaRPr lang="en-US" sz="24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743200" y="3195935"/>
            <a:ext cx="11160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Share 1</a:t>
            </a:r>
            <a:endParaRPr lang="en-US" sz="24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743200" y="4338935"/>
            <a:ext cx="11160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Share 2</a:t>
            </a:r>
            <a:endParaRPr lang="en-US" sz="24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895599" y="5586710"/>
            <a:ext cx="12602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Overlaid</a:t>
            </a:r>
            <a:endParaRPr lang="en-US" sz="24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2862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2 out of 2 scheme (2 sub-pixels)</a:t>
            </a:r>
            <a:endParaRPr lang="en-US" sz="4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10607040" cy="4325112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Black and white image: each pixel divided in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 sub-pixels</a:t>
            </a:r>
          </a:p>
          <a:p>
            <a:pPr>
              <a:spcAft>
                <a:spcPts val="12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Choose the next pixel; if white, then randomly choose one of the two rows for white.</a:t>
            </a:r>
          </a:p>
          <a:p>
            <a:pPr>
              <a:spcAft>
                <a:spcPts val="12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If black, then randomly choose between one of the two rows for black.</a:t>
            </a:r>
          </a:p>
          <a:p>
            <a:pPr>
              <a:spcAft>
                <a:spcPts val="12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Also we are dealing with pixels sequentially; in groups these pixels could give us a better result.</a:t>
            </a:r>
          </a:p>
        </p:txBody>
      </p:sp>
    </p:spTree>
    <p:extLst>
      <p:ext uri="{BB962C8B-B14F-4D97-AF65-F5344CB8AC3E}">
        <p14:creationId xmlns:p14="http://schemas.microsoft.com/office/powerpoint/2010/main" val="4278630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out of 2 scheme (2 sub-pixels)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grayscl/>
            <a:biLevel thresh="50000"/>
          </a:blip>
          <a:srcRect/>
          <a:stretch>
            <a:fillRect/>
          </a:stretch>
        </p:blipFill>
        <p:spPr>
          <a:xfrm>
            <a:off x="1905000" y="1828800"/>
            <a:ext cx="7961586" cy="4572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155705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out of 2 scheme (2 sub-pixels)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19400" y="1828800"/>
            <a:ext cx="5581650" cy="32825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biLevel thresh="75000"/>
          </a:blip>
          <a:srcRect r="9677" b="27273"/>
          <a:stretch>
            <a:fillRect/>
          </a:stretch>
        </p:blipFill>
        <p:spPr bwMode="auto">
          <a:xfrm>
            <a:off x="2286000" y="5257800"/>
            <a:ext cx="6858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847682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out of 2 scheme </a:t>
            </a:r>
            <a:r>
              <a:rPr lang="en-US" dirty="0" smtClean="0"/>
              <a:t>(4 </a:t>
            </a:r>
            <a:r>
              <a:rPr lang="en-US" dirty="0"/>
              <a:t>sub-pixels)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biLevel thresh="75000"/>
          </a:blip>
          <a:srcRect/>
          <a:stretch>
            <a:fillRect/>
          </a:stretch>
        </p:blipFill>
        <p:spPr bwMode="auto">
          <a:xfrm>
            <a:off x="2057400" y="3205625"/>
            <a:ext cx="8229600" cy="3652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biLevel thresh="75000"/>
          </a:blip>
          <a:srcRect/>
          <a:stretch>
            <a:fillRect/>
          </a:stretch>
        </p:blipFill>
        <p:spPr bwMode="auto">
          <a:xfrm>
            <a:off x="3478530" y="1579420"/>
            <a:ext cx="536067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865767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Visual Cryptography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10607040" cy="4483100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Encryption doesn’t required any NP-Hard problem dependency</a:t>
            </a:r>
          </a:p>
          <a:p>
            <a:pPr>
              <a:spcAft>
                <a:spcPts val="12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Decryption algorithm not required (Use a human Visual System). So a person unknown to cryptography can decrypt the message. </a:t>
            </a:r>
          </a:p>
          <a:p>
            <a:pPr>
              <a:spcAft>
                <a:spcPts val="12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We can send cipher text through FAX or E-MAIL</a:t>
            </a:r>
          </a:p>
          <a:p>
            <a:pPr>
              <a:spcAft>
                <a:spcPts val="12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Infinite Computation Power can’t predict the message.</a:t>
            </a:r>
          </a:p>
        </p:txBody>
      </p:sp>
    </p:spTree>
    <p:extLst>
      <p:ext uri="{BB962C8B-B14F-4D97-AF65-F5344CB8AC3E}">
        <p14:creationId xmlns:p14="http://schemas.microsoft.com/office/powerpoint/2010/main" val="347520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Hiding Secret </a:t>
            </a:r>
            <a:r>
              <a:rPr lang="en-US" dirty="0" smtClean="0"/>
              <a:t>Image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1554214"/>
            <a:ext cx="5955672" cy="527050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4633912"/>
            <a:ext cx="6271833" cy="2147888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689" y="1972434"/>
            <a:ext cx="1992119" cy="106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2381" y="1967922"/>
            <a:ext cx="2005901" cy="1077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5592" y="3124200"/>
            <a:ext cx="2160028" cy="1160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770910" y="2230582"/>
            <a:ext cx="4010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chemeClr val="bg2">
                    <a:lumMod val="10000"/>
                  </a:schemeClr>
                </a:solidFill>
              </a:rPr>
              <a:t>+</a:t>
            </a:r>
            <a:endParaRPr lang="en-US" b="1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42457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bdullah">
  <a:themeElements>
    <a:clrScheme name="Custom 1">
      <a:dk1>
        <a:srgbClr val="5C2E14"/>
      </a:dk1>
      <a:lt1>
        <a:srgbClr val="FFFFFF"/>
      </a:lt1>
      <a:dk2>
        <a:srgbClr val="214B2B"/>
      </a:dk2>
      <a:lt2>
        <a:srgbClr val="DEDEDE"/>
      </a:lt2>
      <a:accent1>
        <a:srgbClr val="53548A"/>
      </a:accent1>
      <a:accent2>
        <a:srgbClr val="57B56D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Abdullah</Template>
  <TotalTime>5331311</TotalTime>
  <Words>365</Words>
  <Application>Microsoft Office PowerPoint</Application>
  <PresentationFormat>Custom</PresentationFormat>
  <Paragraphs>48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Abdullah</vt:lpstr>
      <vt:lpstr>Cryptography and Network Security</vt:lpstr>
      <vt:lpstr>Introduction</vt:lpstr>
      <vt:lpstr>Concept of Secrecy</vt:lpstr>
      <vt:lpstr>Concept of Secrecy</vt:lpstr>
      <vt:lpstr>Secret Sharing - Visual</vt:lpstr>
      <vt:lpstr>Background</vt:lpstr>
      <vt:lpstr>Encoding the Pixels</vt:lpstr>
      <vt:lpstr>2 out of 2 scheme (2 sub-pixels)</vt:lpstr>
      <vt:lpstr>2 out of 2 scheme (2 sub-pixels)</vt:lpstr>
      <vt:lpstr>2 out of 2 scheme (2 sub-pixels)</vt:lpstr>
      <vt:lpstr>2 out of 2 scheme (4 sub-pixels)</vt:lpstr>
      <vt:lpstr>Advantages of Visual Cryptography</vt:lpstr>
      <vt:lpstr>Hiding Secret Image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Systems Design</dc:title>
  <dc:creator>Abdullah</dc:creator>
  <cp:lastModifiedBy>Abdullah</cp:lastModifiedBy>
  <cp:revision>199</cp:revision>
  <dcterms:created xsi:type="dcterms:W3CDTF">2006-08-16T00:00:00Z</dcterms:created>
  <dcterms:modified xsi:type="dcterms:W3CDTF">2023-02-19T13:06:36Z</dcterms:modified>
</cp:coreProperties>
</file>