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22" y="-90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130F5-2B9B-421E-80CD-88287242524B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24DF3-4E66-498C-9ED5-669ED64B1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7033240" y="459011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7033263" y="520701"/>
            <a:ext cx="4853941" cy="15869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7429500" y="685801"/>
            <a:ext cx="4457703" cy="45156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7441883" y="766112"/>
            <a:ext cx="2555748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7503795" y="810481"/>
            <a:ext cx="2555748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033260" y="611409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589459" y="633792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07160"/>
            <a:ext cx="11887200" cy="20179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" y="324045"/>
            <a:ext cx="11887201" cy="11626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8338266" y="292100"/>
            <a:ext cx="3548935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2" y="2"/>
            <a:ext cx="11887199" cy="304798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74059" y="1295402"/>
            <a:ext cx="10995660" cy="1470025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rgbClr val="D25500"/>
                </a:solidFill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21331" y="3124200"/>
            <a:ext cx="6438900" cy="1752600"/>
          </a:xfrm>
        </p:spPr>
        <p:txBody>
          <a:bodyPr anchor="ctr">
            <a:normAutofit/>
          </a:bodyPr>
          <a:lstStyle>
            <a:lvl1pPr marL="64008" indent="0" algn="ctr">
              <a:buNone/>
              <a:defRPr sz="2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" y="6388100"/>
            <a:ext cx="1248156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896600" y="1136"/>
            <a:ext cx="891540" cy="303664"/>
          </a:xfrm>
        </p:spPr>
        <p:txBody>
          <a:bodyPr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98480" cy="432511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1981202"/>
            <a:ext cx="1010412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3367088"/>
            <a:ext cx="1010412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685800"/>
            <a:ext cx="10698480" cy="10668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1765301"/>
            <a:ext cx="525018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-16510" y="6413500"/>
            <a:ext cx="1244443" cy="457200"/>
          </a:xfrm>
        </p:spPr>
        <p:txBody>
          <a:bodyPr anchor="ctr"/>
          <a:lstStyle>
            <a:lvl1pPr algn="ctr">
              <a:defRPr sz="1050"/>
            </a:lvl1pPr>
          </a:lstStyle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143000"/>
            <a:ext cx="108966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2244971"/>
            <a:ext cx="5254142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37596" y="2244971"/>
            <a:ext cx="525430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2708519"/>
            <a:ext cx="5254142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3798" y="2708519"/>
            <a:ext cx="525430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58784" y="612648"/>
            <a:ext cx="1244443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35140" y="612648"/>
            <a:ext cx="172364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27157" y="2272"/>
            <a:ext cx="9906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545" y="1101971"/>
            <a:ext cx="4398264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959545" y="2010727"/>
            <a:ext cx="4398264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" y="776287"/>
            <a:ext cx="6633058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567" y="1109161"/>
            <a:ext cx="76284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4772" y="1143000"/>
            <a:ext cx="59436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4976" y="3274310"/>
            <a:ext cx="336804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6340" y="1143000"/>
            <a:ext cx="24765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1143000"/>
            <a:ext cx="812292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654" y="6094018"/>
            <a:ext cx="939081" cy="72237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" y="366820"/>
            <a:ext cx="118872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2"/>
            <a:ext cx="118872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3" y="308278"/>
            <a:ext cx="118872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7033240" y="360248"/>
            <a:ext cx="485396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033263" y="440114"/>
            <a:ext cx="485394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029541" y="497504"/>
            <a:ext cx="3982212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585740" y="588943"/>
            <a:ext cx="208026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11810456" y="-2001"/>
            <a:ext cx="74914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1757825" y="-2001"/>
            <a:ext cx="3566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1733057" y="-2001"/>
            <a:ext cx="11887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11668050" y="-2001"/>
            <a:ext cx="3566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11590380" y="380"/>
            <a:ext cx="71323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11535518" y="380"/>
            <a:ext cx="11887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94360" y="1143000"/>
            <a:ext cx="1069848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94360" y="2249424"/>
            <a:ext cx="1069848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62497" y="612648"/>
            <a:ext cx="1244443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835140" y="612648"/>
            <a:ext cx="1723644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627157" y="2272"/>
            <a:ext cx="9906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Cryptography and Network Security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Traditional Symmetric-Key Cipher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6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835640" cy="432511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original message from Alice to Bob is called plaintext; the message that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sent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through the channel is called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Alice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uses an encryption algorithm and a shared secret key.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Bob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uses a decryption algorithm and the same secret key.</a:t>
            </a:r>
          </a:p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refer to encryption and decryption algorithms as ciphers. A key is a set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values (numbers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 that the cipher,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as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algorithm, operates on.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534" y="3948545"/>
            <a:ext cx="75723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00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8356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P is the plaintext, C is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and K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key, the encryption algorithm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i="1" baseline="-250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(x) creates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from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plaintext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decryption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200" i="1" baseline="-250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(x) creates the plaintext from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assume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sz="22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i="1" baseline="-250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 and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200" i="1" baseline="-250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(x) are inverses of each other: they cancel the effect of each other if they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applied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one after the other on the same input.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491" y="4419599"/>
            <a:ext cx="6419407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31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Kerckhoff’s</a:t>
            </a:r>
            <a:r>
              <a:rPr lang="en-US" dirty="0"/>
              <a:t> Principle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7594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Based on </a:t>
            </a:r>
            <a:r>
              <a:rPr lang="en-US" sz="2200" b="1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Kerckhoff’s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principle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one should always assume that the adversary, Eve,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knows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encryption/decryption algorithm.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resistance of the cipher to attack must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 based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only on the secrecy of the key.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principle manifests itself more clearly when we study modern ciphers.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key domain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each algorithm, however, is so large that it makes it difficult for the adversary to find the key.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6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Cryptanalysis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the science and art of breaking those codes.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addition to studying cryptography techniques we also need to study cryptanalysis techniques.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is needed, not to break other people’s codes, but to learn how vulnerable our cryptosystem is.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cryptanalysis helps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 create better secret codes. There are four common types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cryptanalysis attacks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865" y="4881995"/>
            <a:ext cx="7286625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15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-Only 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has access to only some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tries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corresponding key and the plaintext. The assumption is that Eve knows the algorithm and can intercept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-only attack is the most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probable one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because Eve needs only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for this attack.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332" y="4628287"/>
            <a:ext cx="70294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639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Various methods can be used in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-only attack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Brute-Force Attack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Eve tries to use all possible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keys.</a:t>
            </a:r>
          </a:p>
          <a:p>
            <a:pPr lvl="1"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Statistical Attack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The cryptanalyst can benefit from some inherent characteristics of the plaintext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language.</a:t>
            </a:r>
          </a:p>
          <a:p>
            <a:pPr lvl="1"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Pattern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ciphers may hide the characteristics of the language, but may create some patterns in the </a:t>
            </a:r>
            <a:r>
              <a:rPr lang="en-US" sz="22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So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should look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as random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as possible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863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314" y="4835240"/>
            <a:ext cx="619125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Known-Plaintext 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Alice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has sent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secret message to Bob, but she has later made the contents of the message public.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has kept both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the plaintext to use them to break the next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secret message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from Alice to Bob, assuming that Alice has not changed her key.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relationship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between the previous pair to analyze the current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 is easier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implement </a:t>
            </a:r>
          </a:p>
          <a:p>
            <a:pPr marL="411480" lvl="1" indent="0">
              <a:spcBef>
                <a:spcPts val="0"/>
              </a:spcBef>
              <a:buNone/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because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has more information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11480" lvl="1" indent="0">
              <a:spcBef>
                <a:spcPts val="0"/>
              </a:spcBef>
              <a:buNone/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to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for analysis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70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Chosen-Plaintext Attack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has access to Alice’s computer. She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can choose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plaintext and intercept the created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course, she does not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have 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key because the key is normally embedded in the software used by the sender.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type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attack is much easier to implement, but it is much less likely to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happen.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85" y="4378703"/>
            <a:ext cx="6719888" cy="2465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1380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Cryptanalysis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Chosen-</a:t>
            </a:r>
            <a:r>
              <a:rPr lang="en-US" sz="2200" b="1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Attack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similar to the chosen-plaintext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attack except that –  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chooses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decrypts it to form a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/plaintext pair.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can happen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Eve has access to Bob’s computer.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91" y="4534802"/>
            <a:ext cx="6515100" cy="2309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4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Substitution Ciphers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It replaces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one symbol with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another.</a:t>
            </a:r>
          </a:p>
          <a:p>
            <a:pPr>
              <a:spcAft>
                <a:spcPts val="1200"/>
              </a:spcAft>
            </a:pPr>
            <a:r>
              <a:rPr lang="en-US" sz="2200" b="1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Monoalphabetic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character (or a symbol) in the plaintext is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always changed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the same character (or symbol) in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regardless of its position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the text.</a:t>
            </a:r>
          </a:p>
          <a:p>
            <a:pPr lvl="1">
              <a:spcAft>
                <a:spcPts val="1200"/>
              </a:spcAft>
            </a:pP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Following is not a </a:t>
            </a:r>
            <a:r>
              <a:rPr lang="en-US" sz="22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monoalphabetic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cipher.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748087"/>
            <a:ext cx="54102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354" y="5544181"/>
            <a:ext cx="5234046" cy="39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235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Monoalphabetic</a:t>
            </a:r>
            <a:r>
              <a:rPr lang="en-US" dirty="0"/>
              <a:t> Ciphers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Additive Cipher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secret key between Alice and Bob is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integer in Z</a:t>
            </a:r>
            <a:r>
              <a:rPr lang="en-US" sz="2200" baseline="-25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encryption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algorithm adds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key to the plaintext character; the decryption algorithm subtracts the key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character.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operations are done in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200" baseline="-250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667815"/>
            <a:ext cx="6705600" cy="218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50" y="5635335"/>
            <a:ext cx="6734175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510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Monoalphabetic</a:t>
            </a:r>
            <a:r>
              <a:rPr lang="en-US" dirty="0"/>
              <a:t> Ciphers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Cryptanalysis for Additive Cipher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has intercepted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“UVACLYFZLJBYL”. Show how she can use a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brute-force attack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break the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3429000"/>
            <a:ext cx="4629150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7643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Monoalphabetic</a:t>
            </a:r>
            <a:r>
              <a:rPr lang="en-US" dirty="0"/>
              <a:t> Ciphers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Cryptanalysis for Additive Cipher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Eve has intercepted the following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Using a statistical attack, find the plaintext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spcAft>
                <a:spcPts val="1200"/>
              </a:spcAft>
            </a:pP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1800"/>
              </a:spcBef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When Eve tabulates the frequency of letters in this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she gets: I =14, V =13, S =12,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so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on. The most common character is I with 14 occurrences. This shows that character I in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probably corresponds to the character e in plaintext. This means key = 4. Eve deciphers the text to get</a:t>
            </a:r>
          </a:p>
          <a:p>
            <a:pPr lvl="1">
              <a:spcAft>
                <a:spcPts val="1200"/>
              </a:spcAft>
            </a:pP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93677"/>
            <a:ext cx="9048899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168" y="5556881"/>
            <a:ext cx="9033998" cy="615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9344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82" y="4267200"/>
            <a:ext cx="6151418" cy="1803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Monoalphabetic</a:t>
            </a:r>
            <a:r>
              <a:rPr lang="en-US" dirty="0"/>
              <a:t> Ciphers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65300"/>
            <a:ext cx="10607040" cy="43251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Multiplicative Cipher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encryption algorithm specifies multiplication of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plaintext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by the key and the decryption algorithm specifies division of the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ciphertext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by the key.</a:t>
            </a:r>
          </a:p>
          <a:p>
            <a:pPr lvl="1">
              <a:spcAft>
                <a:spcPts val="1200"/>
              </a:spcAft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However, since operations are in Z</a:t>
            </a:r>
            <a:r>
              <a:rPr lang="en-US" sz="2200" baseline="-25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decryption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here means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multiplying by the multiplicative inverse of the key. </a:t>
            </a:r>
            <a:endParaRPr lang="en-US" sz="2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Aft>
                <a:spcPts val="1200"/>
              </a:spcAft>
            </a:pP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Note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the key needs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belong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the set Z</a:t>
            </a:r>
            <a:r>
              <a:rPr lang="en-US" sz="2200" baseline="-25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* to guarantee that the encryption and decryption are inverses </a:t>
            </a:r>
            <a:r>
              <a:rPr lang="en-US" sz="2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each other.</a:t>
            </a:r>
            <a:endParaRPr lang="en-US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2" y="5749562"/>
            <a:ext cx="6006524" cy="1059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6853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bdullah">
  <a:themeElements>
    <a:clrScheme name="Custom 1">
      <a:dk1>
        <a:srgbClr val="5C2E14"/>
      </a:dk1>
      <a:lt1>
        <a:srgbClr val="FFFFFF"/>
      </a:lt1>
      <a:dk2>
        <a:srgbClr val="214B2B"/>
      </a:dk2>
      <a:lt2>
        <a:srgbClr val="DEDEDE"/>
      </a:lt2>
      <a:accent1>
        <a:srgbClr val="53548A"/>
      </a:accent1>
      <a:accent2>
        <a:srgbClr val="57B56D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Abdullah</Template>
  <TotalTime>1175</TotalTime>
  <Words>912</Words>
  <Application>Microsoft Office PowerPoint</Application>
  <PresentationFormat>Custom</PresentationFormat>
  <Paragraphs>75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Abdullah</vt:lpstr>
      <vt:lpstr>Cryptography and Network Security</vt:lpstr>
      <vt:lpstr>Introduction</vt:lpstr>
      <vt:lpstr>Introduction</vt:lpstr>
      <vt:lpstr>Kerckhoff’s Principle</vt:lpstr>
      <vt:lpstr>Cryptanalysis</vt:lpstr>
      <vt:lpstr>Cryptanalysis</vt:lpstr>
      <vt:lpstr>Cryptanalysis</vt:lpstr>
      <vt:lpstr>Cryptanalysis</vt:lpstr>
      <vt:lpstr>Cryptanalysis</vt:lpstr>
      <vt:lpstr>Cryptanalysis</vt:lpstr>
      <vt:lpstr>Substitution Ciphers</vt:lpstr>
      <vt:lpstr>Monoalphabetic Ciphers</vt:lpstr>
      <vt:lpstr>Monoalphabetic Ciphers</vt:lpstr>
      <vt:lpstr>Monoalphabetic Ciphers</vt:lpstr>
      <vt:lpstr>Monoalphabetic Ciphers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Systems Design</dc:title>
  <dc:creator>Abdullah</dc:creator>
  <cp:lastModifiedBy>Muhammad</cp:lastModifiedBy>
  <cp:revision>149</cp:revision>
  <dcterms:created xsi:type="dcterms:W3CDTF">2006-08-16T00:00:00Z</dcterms:created>
  <dcterms:modified xsi:type="dcterms:W3CDTF">2022-12-27T05:47:16Z</dcterms:modified>
</cp:coreProperties>
</file>