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1" r:id="rId6"/>
    <p:sldId id="260" r:id="rId7"/>
    <p:sldId id="271" r:id="rId8"/>
    <p:sldId id="274" r:id="rId9"/>
    <p:sldId id="275" r:id="rId10"/>
    <p:sldId id="276" r:id="rId11"/>
    <p:sldId id="277" r:id="rId12"/>
    <p:sldId id="278" r:id="rId13"/>
    <p:sldId id="262" r:id="rId14"/>
    <p:sldId id="263" r:id="rId15"/>
    <p:sldId id="280" r:id="rId16"/>
    <p:sldId id="281" r:id="rId17"/>
    <p:sldId id="264" r:id="rId18"/>
    <p:sldId id="279" r:id="rId19"/>
    <p:sldId id="270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7A51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884" autoAdjust="0"/>
    <p:restoredTop sz="94343" autoAdjust="0"/>
  </p:normalViewPr>
  <p:slideViewPr>
    <p:cSldViewPr snapToGrid="0">
      <p:cViewPr varScale="1">
        <p:scale>
          <a:sx n="69" d="100"/>
          <a:sy n="69" d="100"/>
        </p:scale>
        <p:origin x="786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E426DDC-D197-434E-9A70-7451432ACD9A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5D88C3B-FDA3-485E-B7A8-1D7D6EC1A7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19998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5D88C3B-FDA3-485E-B7A8-1D7D6EC1A7CE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8305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B8E224-A165-471C-9CDD-9C6B7034113B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529548-2A58-48B1-AC3E-8937F29AB3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30704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B8E224-A165-471C-9CDD-9C6B7034113B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529548-2A58-48B1-AC3E-8937F29AB3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16265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B8E224-A165-471C-9CDD-9C6B7034113B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529548-2A58-48B1-AC3E-8937F29AB3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45706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B8E224-A165-471C-9CDD-9C6B7034113B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529548-2A58-48B1-AC3E-8937F29AB3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93239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B8E224-A165-471C-9CDD-9C6B7034113B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529548-2A58-48B1-AC3E-8937F29AB3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81596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B8E224-A165-471C-9CDD-9C6B7034113B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529548-2A58-48B1-AC3E-8937F29AB3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55255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B8E224-A165-471C-9CDD-9C6B7034113B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529548-2A58-48B1-AC3E-8937F29AB3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07304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B8E224-A165-471C-9CDD-9C6B7034113B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529548-2A58-48B1-AC3E-8937F29AB3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17643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B8E224-A165-471C-9CDD-9C6B7034113B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529548-2A58-48B1-AC3E-8937F29AB3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62171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B8E224-A165-471C-9CDD-9C6B7034113B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529548-2A58-48B1-AC3E-8937F29AB3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43865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B8E224-A165-471C-9CDD-9C6B7034113B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529548-2A58-48B1-AC3E-8937F29AB3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87477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B8E224-A165-471C-9CDD-9C6B7034113B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D529548-2A58-48B1-AC3E-8937F29AB3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13783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ijtsrd.com/papers/ijtsrd14397.pdf" TargetMode="External"/><Relationship Id="rId7" Type="http://schemas.openxmlformats.org/officeDocument/2006/relationships/image" Target="../media/image2.png"/><Relationship Id="rId2" Type="http://schemas.openxmlformats.org/officeDocument/2006/relationships/hyperlink" Target="https://www.researchgate.net/publication/313925459_Supervised_Approach_of_Sentimentality_Extraction_from_Bengali_Facebook_Status" TargetMode="Externa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ijaems.com/upload_images/issue_files/7-IJAEMS-MAY-2018-11-Senti-Lexicon.pdf?utm_source=chatgpt.com" TargetMode="External"/><Relationship Id="rId5" Type="http://schemas.openxmlformats.org/officeDocument/2006/relationships/hyperlink" Target="https://aclanthology.org/W15-3202/?utm_source=chatgpt.com" TargetMode="External"/><Relationship Id="rId4" Type="http://schemas.openxmlformats.org/officeDocument/2006/relationships/hyperlink" Target="https://www.worldscientific.com/doi/abs/10.1142/S0218001418510011" TargetMode="Externa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10476" y="132210"/>
            <a:ext cx="9363165" cy="1268816"/>
          </a:xfrm>
        </p:spPr>
        <p:txBody>
          <a:bodyPr>
            <a:normAutofit/>
          </a:bodyPr>
          <a:lstStyle/>
          <a:p>
            <a:pPr algn="l"/>
            <a:r>
              <a:rPr lang="en-US" sz="4000" b="1" dirty="0" smtClean="0">
                <a:solidFill>
                  <a:schemeClr val="accent6">
                    <a:lumMod val="75000"/>
                  </a:schemeClr>
                </a:solidFill>
                <a:latin typeface="+mn-lt"/>
                <a:cs typeface="Times New Roman" panose="02020603050405020304" pitchFamily="18" charset="0"/>
              </a:rPr>
              <a:t>Gopalganj </a:t>
            </a:r>
            <a:r>
              <a:rPr lang="en-US" sz="4000" b="1" dirty="0">
                <a:solidFill>
                  <a:schemeClr val="accent6">
                    <a:lumMod val="75000"/>
                  </a:schemeClr>
                </a:solidFill>
                <a:latin typeface="+mn-lt"/>
                <a:cs typeface="Times New Roman" panose="02020603050405020304" pitchFamily="18" charset="0"/>
              </a:rPr>
              <a:t>Science and Technology </a:t>
            </a:r>
            <a:r>
              <a:rPr lang="en-US" sz="4000" b="1" dirty="0" smtClean="0">
                <a:solidFill>
                  <a:schemeClr val="accent6">
                    <a:lumMod val="75000"/>
                  </a:schemeClr>
                </a:solidFill>
                <a:latin typeface="+mn-lt"/>
                <a:cs typeface="Times New Roman" panose="02020603050405020304" pitchFamily="18" charset="0"/>
              </a:rPr>
              <a:t>University</a:t>
            </a:r>
            <a:endParaRPr lang="en-US" sz="4000" dirty="0">
              <a:solidFill>
                <a:schemeClr val="accent6">
                  <a:lumMod val="75000"/>
                </a:schemeClr>
              </a:solidFill>
              <a:latin typeface="+mn-lt"/>
              <a:cs typeface="Times New Roman" panose="02020603050405020304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058801" y="1479074"/>
            <a:ext cx="7877243" cy="1876499"/>
          </a:xfrm>
        </p:spPr>
        <p:txBody>
          <a:bodyPr>
            <a:normAutofit fontScale="92500" lnSpcReduction="20000"/>
          </a:bodyPr>
          <a:lstStyle/>
          <a:p>
            <a:r>
              <a:rPr lang="en-US" sz="4000" b="1" dirty="0" smtClean="0">
                <a:cs typeface="Times New Roman" panose="02020603050405020304" pitchFamily="18" charset="0"/>
              </a:rPr>
              <a:t>Presentation on</a:t>
            </a:r>
          </a:p>
          <a:p>
            <a:r>
              <a:rPr lang="en-US" sz="4000" b="1" dirty="0"/>
              <a:t>Sentiment Analysis of the </a:t>
            </a:r>
            <a:r>
              <a:rPr lang="en-US" sz="4000" b="1" dirty="0" err="1"/>
              <a:t>Marma</a:t>
            </a:r>
            <a:r>
              <a:rPr lang="en-US" sz="4000" b="1" dirty="0"/>
              <a:t> Language Using Machine Learning Techniques</a:t>
            </a:r>
            <a:endParaRPr lang="en-US" sz="2800" b="1" dirty="0" smtClean="0">
              <a:solidFill>
                <a:srgbClr val="002060"/>
              </a:solidFill>
              <a:cs typeface="Times New Roman" panose="02020603050405020304" pitchFamily="18" charset="0"/>
            </a:endParaRPr>
          </a:p>
          <a:p>
            <a:pPr algn="l"/>
            <a:endParaRPr lang="en-US" sz="2800" b="1" dirty="0" smtClean="0">
              <a:solidFill>
                <a:srgbClr val="002060"/>
              </a:solidFill>
            </a:endParaRPr>
          </a:p>
          <a:p>
            <a:pPr algn="l"/>
            <a:endParaRPr lang="en-US" sz="2800" b="1" dirty="0">
              <a:solidFill>
                <a:srgbClr val="002060"/>
              </a:solidFill>
            </a:endParaRPr>
          </a:p>
          <a:p>
            <a:pPr algn="l"/>
            <a:endParaRPr lang="en-US" sz="2800" b="1" dirty="0" smtClean="0">
              <a:solidFill>
                <a:srgbClr val="002060"/>
              </a:solidFill>
            </a:endParaRPr>
          </a:p>
          <a:p>
            <a:pPr algn="l"/>
            <a:endParaRPr lang="en-US" sz="2800" b="1" dirty="0">
              <a:solidFill>
                <a:srgbClr val="002060"/>
              </a:solidFill>
            </a:endParaRPr>
          </a:p>
          <a:p>
            <a:endParaRPr lang="en-US" b="1" dirty="0" smtClean="0"/>
          </a:p>
          <a:p>
            <a:endParaRPr lang="en-US" b="1" dirty="0"/>
          </a:p>
          <a:p>
            <a:endParaRPr lang="en-US" b="1" dirty="0" smtClean="0"/>
          </a:p>
          <a:p>
            <a:endParaRPr lang="en-US" b="1" dirty="0"/>
          </a:p>
          <a:p>
            <a:endParaRPr lang="en-US" b="1" dirty="0" smtClean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1926" y="321551"/>
            <a:ext cx="982826" cy="102735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905794" y="384048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95147928"/>
              </p:ext>
            </p:extLst>
          </p:nvPr>
        </p:nvGraphicFramePr>
        <p:xfrm>
          <a:off x="2058801" y="3303454"/>
          <a:ext cx="7973591" cy="3108961"/>
        </p:xfrm>
        <a:graphic>
          <a:graphicData uri="http://schemas.openxmlformats.org/drawingml/2006/table">
            <a:tbl>
              <a:tblPr firstRow="1" bandRow="1">
                <a:tableStyleId>{1FECB4D8-DB02-4DC6-A0A2-4F2EBAE1DC90}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3850922484"/>
                    </a:ext>
                  </a:extLst>
                </a:gridCol>
                <a:gridCol w="3909591">
                  <a:extLst>
                    <a:ext uri="{9D8B030D-6E8A-4147-A177-3AD203B41FA5}">
                      <a16:colId xmlns:a16="http://schemas.microsoft.com/office/drawing/2014/main" val="3381420058"/>
                    </a:ext>
                  </a:extLst>
                </a:gridCol>
              </a:tblGrid>
              <a:tr h="548641"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 smtClean="0">
                          <a:ln>
                            <a:solidFill>
                              <a:schemeClr val="accent6">
                                <a:lumMod val="7500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n-lt"/>
                        </a:rPr>
                        <a:t>Presented</a:t>
                      </a:r>
                      <a:r>
                        <a:rPr lang="en-US" sz="2800" b="1" baseline="0" dirty="0" smtClean="0">
                          <a:ln>
                            <a:solidFill>
                              <a:schemeClr val="accent6">
                                <a:lumMod val="7500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n-lt"/>
                        </a:rPr>
                        <a:t> by</a:t>
                      </a:r>
                      <a:endParaRPr lang="en-US" sz="2800" b="1" dirty="0">
                        <a:ln>
                          <a:solidFill>
                            <a:schemeClr val="accent6">
                              <a:lumMod val="75000"/>
                            </a:schemeClr>
                          </a:solidFill>
                        </a:ln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 smtClean="0">
                          <a:ln>
                            <a:solidFill>
                              <a:schemeClr val="accent6">
                                <a:lumMod val="7500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n-lt"/>
                        </a:rPr>
                        <a:t>Supervised by</a:t>
                      </a:r>
                      <a:endParaRPr lang="en-US" sz="2800" b="1" dirty="0">
                        <a:ln>
                          <a:solidFill>
                            <a:schemeClr val="accent6">
                              <a:lumMod val="75000"/>
                            </a:schemeClr>
                          </a:solidFill>
                        </a:ln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79529457"/>
                  </a:ext>
                </a:extLst>
              </a:tr>
              <a:tr h="2082018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800" b="1" dirty="0" smtClean="0">
                        <a:solidFill>
                          <a:schemeClr val="dk1"/>
                        </a:solidFill>
                        <a:latin typeface="+mn-lt"/>
                        <a:sym typeface="Calibri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dirty="0" smtClean="0">
                          <a:solidFill>
                            <a:schemeClr val="dk1"/>
                          </a:solidFill>
                          <a:latin typeface="+mn-lt"/>
                          <a:sym typeface="Calibri"/>
                        </a:rPr>
                        <a:t>Name: Mohammad</a:t>
                      </a:r>
                      <a:r>
                        <a:rPr lang="en-US" sz="1800" b="1" baseline="0" dirty="0" smtClean="0">
                          <a:solidFill>
                            <a:schemeClr val="dk1"/>
                          </a:solidFill>
                          <a:latin typeface="+mn-lt"/>
                          <a:sym typeface="Calibri"/>
                        </a:rPr>
                        <a:t> Nimour Hossain</a:t>
                      </a: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baseline="0" dirty="0" smtClean="0">
                          <a:solidFill>
                            <a:schemeClr val="dk1"/>
                          </a:solidFill>
                          <a:latin typeface="+mn-lt"/>
                          <a:sym typeface="Calibri"/>
                        </a:rPr>
                        <a:t>ID: 20CSE010</a:t>
                      </a: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800" b="1" baseline="0" dirty="0" smtClean="0">
                        <a:solidFill>
                          <a:schemeClr val="dk1"/>
                        </a:solidFill>
                        <a:latin typeface="+mn-lt"/>
                        <a:sym typeface="Calibri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baseline="0" dirty="0" smtClean="0">
                          <a:solidFill>
                            <a:schemeClr val="dk1"/>
                          </a:solidFill>
                          <a:latin typeface="+mn-lt"/>
                          <a:sym typeface="Calibri"/>
                        </a:rPr>
                        <a:t>Name: </a:t>
                      </a:r>
                      <a:r>
                        <a:rPr lang="en-US" sz="1800" b="1" baseline="0" dirty="0" err="1" smtClean="0">
                          <a:solidFill>
                            <a:schemeClr val="dk1"/>
                          </a:solidFill>
                          <a:latin typeface="+mn-lt"/>
                          <a:sym typeface="Calibri"/>
                        </a:rPr>
                        <a:t>Iftaker</a:t>
                      </a:r>
                      <a:r>
                        <a:rPr lang="en-US" sz="1800" b="1" baseline="0" dirty="0" smtClean="0">
                          <a:solidFill>
                            <a:schemeClr val="dk1"/>
                          </a:solidFill>
                          <a:latin typeface="+mn-lt"/>
                          <a:sym typeface="Calibri"/>
                        </a:rPr>
                        <a:t> Siddique</a:t>
                      </a:r>
                      <a:endParaRPr lang="en-US" b="1" dirty="0" smtClean="0">
                        <a:latin typeface="+mn-lt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dirty="0" smtClean="0">
                          <a:solidFill>
                            <a:schemeClr val="dk1"/>
                          </a:solidFill>
                          <a:latin typeface="+mn-lt"/>
                          <a:ea typeface="Calibri"/>
                          <a:cs typeface="Calibri"/>
                          <a:sym typeface="Calibri"/>
                        </a:rPr>
                        <a:t>ID: 20CSE036</a:t>
                      </a: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b="1" dirty="0" smtClean="0">
                        <a:latin typeface="+mn-lt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kern="1200" baseline="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r>
                        <a:rPr lang="en-US" sz="1800" b="1" kern="1200" baseline="300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th</a:t>
                      </a:r>
                      <a:r>
                        <a:rPr lang="en-US" sz="1800" b="1" dirty="0" smtClean="0">
                          <a:solidFill>
                            <a:schemeClr val="dk1"/>
                          </a:solidFill>
                          <a:latin typeface="+mn-lt"/>
                          <a:ea typeface="Calibri"/>
                          <a:cs typeface="Calibri"/>
                          <a:sym typeface="Calibri"/>
                        </a:rPr>
                        <a:t> Year, 1</a:t>
                      </a:r>
                      <a:r>
                        <a:rPr lang="en-US" sz="1800" b="1" kern="1200" baseline="300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Calibri"/>
                        </a:rPr>
                        <a:t>st</a:t>
                      </a:r>
                      <a:r>
                        <a:rPr lang="en-US" sz="1800" b="1" dirty="0" smtClean="0">
                          <a:solidFill>
                            <a:schemeClr val="dk1"/>
                          </a:solidFill>
                          <a:latin typeface="+mn-lt"/>
                          <a:ea typeface="Calibri"/>
                          <a:cs typeface="Calibri"/>
                          <a:sym typeface="Calibri"/>
                        </a:rPr>
                        <a:t> Semester </a:t>
                      </a:r>
                      <a:endParaRPr lang="en-US" b="1" dirty="0" smtClean="0">
                        <a:latin typeface="+mn-lt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dirty="0" smtClean="0">
                          <a:solidFill>
                            <a:schemeClr val="dk1"/>
                          </a:solidFill>
                          <a:latin typeface="+mn-lt"/>
                          <a:ea typeface="Calibri"/>
                          <a:cs typeface="Calibri"/>
                          <a:sym typeface="Calibri"/>
                        </a:rPr>
                        <a:t>Department of </a:t>
                      </a:r>
                      <a:r>
                        <a:rPr lang="en-US" sz="1800" b="1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Calibri"/>
                        </a:rPr>
                        <a:t>CSE, GSTU</a:t>
                      </a:r>
                      <a:endParaRPr lang="en-US" b="1" dirty="0" smtClean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800" b="1" dirty="0" smtClean="0">
                        <a:solidFill>
                          <a:schemeClr val="dk1"/>
                        </a:solidFill>
                        <a:latin typeface="+mn-lt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dirty="0" smtClean="0">
                          <a:solidFill>
                            <a:schemeClr val="dk1"/>
                          </a:solidFill>
                          <a:latin typeface="+mn-lt"/>
                          <a:ea typeface="Calibri"/>
                          <a:cs typeface="Calibri"/>
                          <a:sym typeface="Calibri"/>
                        </a:rPr>
                        <a:t>Name: </a:t>
                      </a:r>
                      <a:r>
                        <a:rPr lang="en-US" sz="1800" b="1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Dr. </a:t>
                      </a:r>
                      <a:r>
                        <a:rPr lang="en-US" sz="1800" b="1" i="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Mrinal</a:t>
                      </a:r>
                      <a:r>
                        <a:rPr lang="en-US" sz="1800" b="1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800" b="1" i="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Kanti</a:t>
                      </a:r>
                      <a:r>
                        <a:rPr lang="en-US" sz="1800" b="1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Baowaly</a:t>
                      </a:r>
                      <a:r>
                        <a:rPr lang="en-US" sz="1800" b="1" baseline="0" dirty="0" smtClean="0">
                          <a:solidFill>
                            <a:schemeClr val="dk1"/>
                          </a:solidFill>
                          <a:latin typeface="+mn-lt"/>
                          <a:ea typeface="Calibri"/>
                          <a:cs typeface="Calibri"/>
                          <a:sym typeface="Calibri"/>
                        </a:rPr>
                        <a:t>,</a:t>
                      </a:r>
                      <a:r>
                        <a:rPr lang="en-US" sz="1800" b="1" dirty="0" smtClean="0">
                          <a:solidFill>
                            <a:schemeClr val="dk1"/>
                          </a:solidFill>
                          <a:latin typeface="+mn-lt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endParaRPr lang="en-US" dirty="0" smtClean="0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Associate Professor</a:t>
                      </a:r>
                      <a:endParaRPr lang="en-US" sz="1800" b="1" dirty="0" smtClean="0">
                        <a:solidFill>
                          <a:schemeClr val="dk1"/>
                        </a:solidFill>
                        <a:latin typeface="+mn-lt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800" b="1" dirty="0" smtClean="0">
                        <a:solidFill>
                          <a:schemeClr val="dk1"/>
                        </a:solidFill>
                        <a:latin typeface="+mn-lt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dirty="0" smtClean="0">
                          <a:solidFill>
                            <a:schemeClr val="dk1"/>
                          </a:solidFill>
                          <a:latin typeface="+mn-lt"/>
                          <a:ea typeface="Calibri"/>
                          <a:cs typeface="Calibri"/>
                          <a:sym typeface="Calibri"/>
                        </a:rPr>
                        <a:t>Department of </a:t>
                      </a:r>
                      <a:r>
                        <a:rPr lang="en-US" sz="1800" b="1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Calibri"/>
                        </a:rPr>
                        <a:t>CSE, GSTU</a:t>
                      </a:r>
                      <a:endParaRPr lang="en-US" b="1" dirty="0" smtClean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9543548"/>
                  </a:ext>
                </a:extLst>
              </a:tr>
            </a:tbl>
          </a:graphicData>
        </a:graphic>
      </p:graphicFrame>
      <p:sp>
        <p:nvSpPr>
          <p:cNvPr id="11" name="Rectangle 10"/>
          <p:cNvSpPr/>
          <p:nvPr/>
        </p:nvSpPr>
        <p:spPr>
          <a:xfrm>
            <a:off x="-25202" y="6490463"/>
            <a:ext cx="12192000" cy="402712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 smtClean="0">
              <a:solidFill>
                <a:schemeClr val="accent6">
                  <a:lumMod val="50000"/>
                </a:schemeClr>
              </a:solidFill>
              <a:latin typeface="Agency FB" panose="020B0503020202020204" pitchFamily="34" charset="0"/>
            </a:endParaRPr>
          </a:p>
          <a:p>
            <a:pPr algn="ctr"/>
            <a:r>
              <a:rPr lang="en-US" sz="1600" b="1" dirty="0" smtClean="0">
                <a:solidFill>
                  <a:schemeClr val="bg1"/>
                </a:solidFill>
              </a:rPr>
              <a:t>Department </a:t>
            </a:r>
            <a:r>
              <a:rPr lang="en-US" sz="1600" b="1" dirty="0">
                <a:solidFill>
                  <a:schemeClr val="bg1"/>
                </a:solidFill>
              </a:rPr>
              <a:t>of Computer Science and Engineering</a:t>
            </a:r>
          </a:p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062378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5751"/>
    </mc:Choice>
    <mc:Fallback>
      <p:transition spd="slow" advTm="25751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435926"/>
            <a:ext cx="7620000" cy="779928"/>
          </a:xfrm>
        </p:spPr>
        <p:txBody>
          <a:bodyPr>
            <a:normAutofit fontScale="90000"/>
          </a:bodyPr>
          <a:lstStyle/>
          <a:p>
            <a:pPr algn="l"/>
            <a:r>
              <a:rPr lang="en-US" sz="4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4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4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4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4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4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4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4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4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4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4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4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4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4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4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4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4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4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4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4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4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4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4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4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4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4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4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4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4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4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4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4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4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4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4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4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4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4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4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4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4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4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4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4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4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4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4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4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4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4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4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4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4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4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4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4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4400" b="1" dirty="0" smtClean="0">
                <a:solidFill>
                  <a:schemeClr val="accent6">
                    <a:lumMod val="75000"/>
                  </a:schemeClr>
                </a:solidFill>
                <a:latin typeface="+mn-lt"/>
                <a:ea typeface="Calibri"/>
                <a:cs typeface="Times New Roman" panose="02020603050405020304" pitchFamily="18" charset="0"/>
                <a:sym typeface="Calibri"/>
              </a:rPr>
              <a:t>Presentation Outline</a:t>
            </a:r>
            <a:endParaRPr lang="en-US" sz="4400" dirty="0">
              <a:solidFill>
                <a:schemeClr val="accent6">
                  <a:lumMod val="75000"/>
                </a:schemeClr>
              </a:solidFill>
              <a:latin typeface="+mn-lt"/>
              <a:cs typeface="Times New Roman" panose="02020603050405020304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1429055"/>
            <a:ext cx="10044545" cy="4849091"/>
          </a:xfrm>
        </p:spPr>
        <p:txBody>
          <a:bodyPr>
            <a:normAutofit fontScale="92500" lnSpcReduction="10000"/>
          </a:bodyPr>
          <a:lstStyle/>
          <a:p>
            <a:pPr marL="342900" indent="-342900" algn="l">
              <a:buFont typeface="Wingdings" panose="05000000000000000000" pitchFamily="2" charset="2"/>
              <a:buChar char="q"/>
            </a:pPr>
            <a:r>
              <a:rPr lang="en-US" sz="2800" b="1" dirty="0" smtClean="0">
                <a:cs typeface="Times New Roman"/>
              </a:rPr>
              <a:t> Introduction</a:t>
            </a:r>
          </a:p>
          <a:p>
            <a:pPr marL="342900" indent="-342900" algn="l">
              <a:buFont typeface="Wingdings" panose="05000000000000000000" pitchFamily="2" charset="2"/>
              <a:buChar char="q"/>
            </a:pPr>
            <a:r>
              <a:rPr lang="en-US" sz="2800" b="1" dirty="0" smtClean="0">
                <a:cs typeface="Times New Roman"/>
              </a:rPr>
              <a:t> Research gap</a:t>
            </a:r>
          </a:p>
          <a:p>
            <a:pPr marL="342900" indent="-342900" algn="l">
              <a:buFont typeface="Wingdings" panose="05000000000000000000" pitchFamily="2" charset="2"/>
              <a:buChar char="q"/>
            </a:pPr>
            <a:r>
              <a:rPr lang="en-US" sz="2800" b="1" dirty="0" smtClean="0">
                <a:cs typeface="Times New Roman"/>
              </a:rPr>
              <a:t> Objectives</a:t>
            </a:r>
          </a:p>
          <a:p>
            <a:pPr marL="342900" indent="-342900" algn="l">
              <a:buFont typeface="Wingdings" panose="05000000000000000000" pitchFamily="2" charset="2"/>
              <a:buChar char="q"/>
            </a:pPr>
            <a:r>
              <a:rPr lang="en-US" sz="2800" b="1" dirty="0" smtClean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 </a:t>
            </a:r>
            <a:r>
              <a:rPr lang="en-US" sz="2800" b="1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Dataset </a:t>
            </a:r>
            <a:r>
              <a:rPr lang="en-US" sz="2800" b="1" dirty="0" smtClean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Description</a:t>
            </a:r>
          </a:p>
          <a:p>
            <a:pPr marL="342900" indent="-342900" algn="l">
              <a:buFont typeface="Wingdings" panose="05000000000000000000" pitchFamily="2" charset="2"/>
              <a:buChar char="q"/>
            </a:pPr>
            <a:r>
              <a:rPr lang="en-US" sz="2800" b="1" dirty="0">
                <a:solidFill>
                  <a:schemeClr val="dk1"/>
                </a:solidFill>
                <a:cs typeface="Calibri"/>
                <a:sym typeface="Calibri"/>
              </a:rPr>
              <a:t> </a:t>
            </a:r>
            <a:r>
              <a:rPr lang="en-US" sz="2800" b="1" dirty="0" smtClean="0">
                <a:solidFill>
                  <a:schemeClr val="dk1"/>
                </a:solidFill>
                <a:cs typeface="Calibri"/>
                <a:sym typeface="Calibri"/>
              </a:rPr>
              <a:t>Methodology (Preprocessing &amp; Features)</a:t>
            </a:r>
          </a:p>
          <a:p>
            <a:pPr marL="342900" indent="-342900" algn="l">
              <a:buFont typeface="Wingdings" panose="05000000000000000000" pitchFamily="2" charset="2"/>
              <a:buChar char="q"/>
            </a:pPr>
            <a:r>
              <a:rPr lang="en-US" sz="2800" b="1" dirty="0" smtClean="0">
                <a:cs typeface="Times New Roman"/>
              </a:rPr>
              <a:t> Machine </a:t>
            </a:r>
            <a:r>
              <a:rPr lang="en-US" sz="2800" b="1" dirty="0">
                <a:cs typeface="Times New Roman"/>
              </a:rPr>
              <a:t>Learning </a:t>
            </a:r>
            <a:r>
              <a:rPr lang="en-US" sz="2800" b="1" dirty="0" smtClean="0">
                <a:cs typeface="Times New Roman"/>
              </a:rPr>
              <a:t>Models</a:t>
            </a:r>
          </a:p>
          <a:p>
            <a:pPr marL="342900" indent="-342900" algn="l">
              <a:buFont typeface="Wingdings" panose="05000000000000000000" pitchFamily="2" charset="2"/>
              <a:buChar char="q"/>
            </a:pPr>
            <a:r>
              <a:rPr lang="en-US" sz="2800" b="1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 Expected </a:t>
            </a:r>
            <a:r>
              <a:rPr lang="en-US" sz="2800" b="1" dirty="0" smtClean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Results</a:t>
            </a:r>
          </a:p>
          <a:p>
            <a:pPr marL="342900" indent="-342900" algn="l">
              <a:buFont typeface="Wingdings" panose="05000000000000000000" pitchFamily="2" charset="2"/>
              <a:buChar char="q"/>
            </a:pPr>
            <a:r>
              <a:rPr lang="en-US" sz="2800" b="1" dirty="0" smtClean="0"/>
              <a:t> Completed </a:t>
            </a:r>
            <a:r>
              <a:rPr lang="en-US" sz="2800" b="1" dirty="0"/>
              <a:t>Work </a:t>
            </a:r>
            <a:r>
              <a:rPr lang="en-US" sz="2800" b="1" dirty="0" smtClean="0"/>
              <a:t>Summary</a:t>
            </a:r>
          </a:p>
          <a:p>
            <a:pPr marL="342900" indent="-342900" algn="l">
              <a:buFont typeface="Wingdings" panose="05000000000000000000" pitchFamily="2" charset="2"/>
              <a:buChar char="q"/>
            </a:pPr>
            <a:r>
              <a:rPr lang="en-US" sz="2800" b="1" smtClean="0"/>
              <a:t> Pending </a:t>
            </a:r>
            <a:r>
              <a:rPr lang="en-US" sz="2800" b="1" dirty="0"/>
              <a:t>Works</a:t>
            </a:r>
            <a:endParaRPr lang="en-US" sz="2800" b="1" dirty="0" smtClean="0">
              <a:solidFill>
                <a:schemeClr val="dk1"/>
              </a:solidFill>
              <a:ea typeface="Calibri"/>
              <a:cs typeface="Calibri"/>
              <a:sym typeface="Calibri"/>
            </a:endParaRPr>
          </a:p>
          <a:p>
            <a:pPr marL="342900" indent="-342900" algn="l">
              <a:buFont typeface="Wingdings" panose="05000000000000000000" pitchFamily="2" charset="2"/>
              <a:buChar char="q"/>
            </a:pPr>
            <a:r>
              <a:rPr lang="en-US" sz="2800" b="1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 Related work</a:t>
            </a:r>
          </a:p>
          <a:p>
            <a:pPr marL="342900" indent="-342900" algn="l">
              <a:buFont typeface="Wingdings" panose="05000000000000000000" pitchFamily="2" charset="2"/>
              <a:buChar char="q"/>
            </a:pPr>
            <a:r>
              <a:rPr lang="en-US" sz="2800" b="1" dirty="0" smtClean="0">
                <a:cs typeface="Times New Roman"/>
              </a:rPr>
              <a:t> Conclusion</a:t>
            </a:r>
          </a:p>
          <a:p>
            <a:pPr marL="342900" indent="-342900" algn="l">
              <a:buFont typeface="Wingdings" panose="05000000000000000000" pitchFamily="2" charset="2"/>
              <a:buChar char="q"/>
            </a:pPr>
            <a:endParaRPr lang="en-US" sz="2800" b="1" dirty="0" smtClean="0">
              <a:cs typeface="Times New Roman"/>
            </a:endParaRPr>
          </a:p>
          <a:p>
            <a:pPr marL="342900" indent="-342900" algn="l">
              <a:buFont typeface="Wingdings" panose="05000000000000000000" pitchFamily="2" charset="2"/>
              <a:buChar char="§"/>
            </a:pPr>
            <a:endParaRPr lang="en-US" dirty="0">
              <a:latin typeface="Times New Roman"/>
              <a:cs typeface="Times New Roman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-1" y="6491348"/>
            <a:ext cx="12192000" cy="402712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 smtClean="0">
              <a:solidFill>
                <a:schemeClr val="accent6">
                  <a:lumMod val="50000"/>
                </a:schemeClr>
              </a:solidFill>
              <a:latin typeface="Agency FB" panose="020B0503020202020204" pitchFamily="34" charset="0"/>
            </a:endParaRPr>
          </a:p>
          <a:p>
            <a:pPr algn="ctr"/>
            <a:r>
              <a:rPr lang="en-US" sz="1600" b="1" dirty="0" smtClean="0">
                <a:solidFill>
                  <a:schemeClr val="bg1"/>
                </a:solidFill>
              </a:rPr>
              <a:t>Department </a:t>
            </a:r>
            <a:r>
              <a:rPr lang="en-US" sz="1600" b="1" dirty="0">
                <a:solidFill>
                  <a:schemeClr val="bg1"/>
                </a:solidFill>
              </a:rPr>
              <a:t>of Computer Science and Engineering</a:t>
            </a:r>
          </a:p>
          <a:p>
            <a:pPr algn="ctr"/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18113" y="106176"/>
            <a:ext cx="936139" cy="9785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511217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274"/>
    </mc:Choice>
    <mc:Fallback>
      <p:transition spd="slow" advTm="3274"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048000" y="8559320"/>
            <a:ext cx="8874035" cy="2061724"/>
          </a:xfrm>
        </p:spPr>
        <p:txBody>
          <a:bodyPr>
            <a:normAutofit/>
          </a:bodyPr>
          <a:lstStyle/>
          <a:p>
            <a:pPr marL="342900" indent="-342900" algn="l">
              <a:buFont typeface="Wingdings" panose="05000000000000000000" pitchFamily="2" charset="2"/>
              <a:buChar char="v"/>
            </a:pPr>
            <a:r>
              <a:rPr lang="en-US" dirty="0" smtClean="0"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4" name="Rectangle 3"/>
          <p:cNvSpPr/>
          <p:nvPr/>
        </p:nvSpPr>
        <p:spPr>
          <a:xfrm>
            <a:off x="-1" y="6491348"/>
            <a:ext cx="12192000" cy="402712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 smtClean="0">
              <a:solidFill>
                <a:schemeClr val="accent6">
                  <a:lumMod val="50000"/>
                </a:schemeClr>
              </a:solidFill>
              <a:latin typeface="Agency FB" panose="020B0503020202020204" pitchFamily="34" charset="0"/>
            </a:endParaRPr>
          </a:p>
          <a:p>
            <a:pPr algn="ctr"/>
            <a:r>
              <a:rPr lang="en-US" sz="1600" b="1" dirty="0" smtClean="0">
                <a:solidFill>
                  <a:schemeClr val="bg1"/>
                </a:solidFill>
              </a:rPr>
              <a:t>Department </a:t>
            </a:r>
            <a:r>
              <a:rPr lang="en-US" sz="1600" b="1" dirty="0">
                <a:solidFill>
                  <a:schemeClr val="bg1"/>
                </a:solidFill>
              </a:rPr>
              <a:t>of Computer Science and Engineering</a:t>
            </a:r>
          </a:p>
          <a:p>
            <a:pPr algn="ctr"/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18113" y="106176"/>
            <a:ext cx="936139" cy="97855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382902" y="2608001"/>
            <a:ext cx="7733389" cy="29238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2400"/>
              </a:spcAft>
            </a:pPr>
            <a:r>
              <a:rPr lang="en-US" sz="2400" dirty="0"/>
              <a:t>• This research aims to classify </a:t>
            </a:r>
            <a:r>
              <a:rPr lang="en-US" sz="2400" dirty="0" err="1"/>
              <a:t>Marma</a:t>
            </a:r>
            <a:r>
              <a:rPr lang="en-US" sz="2400" dirty="0"/>
              <a:t> sentences as Positive, Negative, or Neutral using Machine Learning techniques</a:t>
            </a:r>
            <a:r>
              <a:rPr lang="en-US" sz="2400" dirty="0" smtClean="0"/>
              <a:t>.</a:t>
            </a:r>
          </a:p>
          <a:p>
            <a:pPr>
              <a:spcAft>
                <a:spcPts val="2400"/>
              </a:spcAft>
            </a:pPr>
            <a:r>
              <a:rPr lang="en-US" sz="2400" dirty="0" smtClean="0"/>
              <a:t>• </a:t>
            </a:r>
            <a:r>
              <a:rPr lang="en-US" sz="2400" dirty="0" err="1"/>
              <a:t>Marma</a:t>
            </a:r>
            <a:r>
              <a:rPr lang="en-US" sz="2400" dirty="0"/>
              <a:t> is spoken by around 200,000 people in the Chittagong Hill Tracts.</a:t>
            </a:r>
          </a:p>
          <a:p>
            <a:pPr>
              <a:spcAft>
                <a:spcPts val="2400"/>
              </a:spcAft>
            </a:pPr>
            <a:r>
              <a:rPr lang="en-US" sz="2400" dirty="0"/>
              <a:t>• Although </a:t>
            </a:r>
            <a:r>
              <a:rPr lang="en-US" sz="2400" dirty="0" err="1"/>
              <a:t>Marma</a:t>
            </a:r>
            <a:r>
              <a:rPr lang="en-US" sz="2400" dirty="0"/>
              <a:t> has its own script, most speakers write the language using Bangla characters on social media.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82902" y="595453"/>
            <a:ext cx="284424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b="1" dirty="0" smtClean="0">
                <a:solidFill>
                  <a:schemeClr val="accent6">
                    <a:lumMod val="75000"/>
                  </a:schemeClr>
                </a:solidFill>
              </a:rPr>
              <a:t>Introduction</a:t>
            </a:r>
            <a:endParaRPr lang="en-US" sz="4000" b="1" dirty="0">
              <a:solidFill>
                <a:schemeClr val="accent6">
                  <a:lumMod val="75000"/>
                </a:schemeClr>
              </a:solidFill>
            </a:endParaRP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86521" y="2728704"/>
            <a:ext cx="1999661" cy="1341236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86520" y="4413368"/>
            <a:ext cx="1999661" cy="10912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198343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42748"/>
    </mc:Choice>
    <mc:Fallback>
      <p:transition spd="slow" advTm="42748"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413163" y="595453"/>
            <a:ext cx="7620000" cy="779928"/>
          </a:xfrm>
        </p:spPr>
        <p:txBody>
          <a:bodyPr>
            <a:normAutofit fontScale="90000"/>
          </a:bodyPr>
          <a:lstStyle/>
          <a:p>
            <a:pPr algn="l"/>
            <a:r>
              <a:rPr lang="en-US" sz="4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4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4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4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4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4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4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4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4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4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4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4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4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4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4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4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4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4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4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4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4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4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4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4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4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4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4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4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4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4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4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4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4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4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4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4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4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4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4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4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4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4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4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4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4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4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4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4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4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4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4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4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4400" b="1" dirty="0" smtClean="0">
                <a:solidFill>
                  <a:schemeClr val="accent6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Research gap</a:t>
            </a:r>
            <a:endParaRPr lang="en-US" sz="4400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13163" y="2081128"/>
            <a:ext cx="9144000" cy="3939988"/>
          </a:xfrm>
        </p:spPr>
        <p:txBody>
          <a:bodyPr>
            <a:normAutofit/>
          </a:bodyPr>
          <a:lstStyle/>
          <a:p>
            <a:pPr algn="l">
              <a:spcAft>
                <a:spcPts val="1800"/>
              </a:spcAft>
            </a:pPr>
            <a:r>
              <a:rPr lang="en-US" dirty="0"/>
              <a:t>• </a:t>
            </a:r>
            <a:r>
              <a:rPr lang="en-US" dirty="0" err="1"/>
              <a:t>Marma</a:t>
            </a:r>
            <a:r>
              <a:rPr lang="en-US" dirty="0"/>
              <a:t> lacks a large dataset or any working digital tool for sentiment </a:t>
            </a:r>
            <a:r>
              <a:rPr lang="en-US" dirty="0" smtClean="0"/>
              <a:t>analysis.</a:t>
            </a:r>
          </a:p>
          <a:p>
            <a:pPr algn="l">
              <a:spcAft>
                <a:spcPts val="1800"/>
              </a:spcAft>
            </a:pPr>
            <a:r>
              <a:rPr lang="en-US" dirty="0" smtClean="0"/>
              <a:t>• </a:t>
            </a:r>
            <a:r>
              <a:rPr lang="en-US" dirty="0"/>
              <a:t>Its grammar is very different from Bangla, so Bangla NLP systems don’t work.</a:t>
            </a:r>
          </a:p>
          <a:p>
            <a:pPr algn="l">
              <a:spcAft>
                <a:spcPts val="1800"/>
              </a:spcAft>
            </a:pPr>
            <a:r>
              <a:rPr lang="en-US" dirty="0"/>
              <a:t>• This creates a digital gap, leaving the </a:t>
            </a:r>
            <a:r>
              <a:rPr lang="en-US" dirty="0" err="1"/>
              <a:t>Marma</a:t>
            </a:r>
            <a:r>
              <a:rPr lang="en-US" dirty="0"/>
              <a:t> community behind in AI access.</a:t>
            </a:r>
          </a:p>
          <a:p>
            <a:pPr algn="l">
              <a:spcAft>
                <a:spcPts val="1800"/>
              </a:spcAft>
            </a:pPr>
            <a:r>
              <a:rPr lang="en-US" dirty="0"/>
              <a:t>• Our project focuses on developing an ML model that can read and classify </a:t>
            </a:r>
            <a:r>
              <a:rPr lang="en-US" dirty="0" err="1"/>
              <a:t>Marma</a:t>
            </a:r>
            <a:r>
              <a:rPr lang="en-US" dirty="0"/>
              <a:t> text automatically.</a:t>
            </a:r>
          </a:p>
        </p:txBody>
      </p:sp>
      <p:sp>
        <p:nvSpPr>
          <p:cNvPr id="4" name="Rectangle 3"/>
          <p:cNvSpPr/>
          <p:nvPr/>
        </p:nvSpPr>
        <p:spPr>
          <a:xfrm>
            <a:off x="-1" y="6491348"/>
            <a:ext cx="12192000" cy="402712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 smtClean="0">
              <a:solidFill>
                <a:schemeClr val="accent6">
                  <a:lumMod val="50000"/>
                </a:schemeClr>
              </a:solidFill>
              <a:latin typeface="Agency FB" panose="020B0503020202020204" pitchFamily="34" charset="0"/>
            </a:endParaRPr>
          </a:p>
          <a:p>
            <a:pPr algn="ctr"/>
            <a:r>
              <a:rPr lang="en-US" sz="1600" b="1" dirty="0" smtClean="0">
                <a:solidFill>
                  <a:schemeClr val="bg1"/>
                </a:solidFill>
              </a:rPr>
              <a:t>Department </a:t>
            </a:r>
            <a:r>
              <a:rPr lang="en-US" sz="1600" b="1" dirty="0">
                <a:solidFill>
                  <a:schemeClr val="bg1"/>
                </a:solidFill>
              </a:rPr>
              <a:t>of Computer Science and Engineering</a:t>
            </a:r>
          </a:p>
          <a:p>
            <a:pPr algn="ctr"/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18113" y="106176"/>
            <a:ext cx="936139" cy="9785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80076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500602"/>
    </mc:Choice>
    <mc:Fallback>
      <p:transition spd="slow" advTm="500602"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57747" y="487268"/>
            <a:ext cx="7620000" cy="779928"/>
          </a:xfrm>
        </p:spPr>
        <p:txBody>
          <a:bodyPr>
            <a:normAutofit fontScale="90000"/>
          </a:bodyPr>
          <a:lstStyle/>
          <a:p>
            <a:pPr algn="l"/>
            <a:r>
              <a:rPr lang="en-US" sz="4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4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4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4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4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4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4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4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4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4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4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4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4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4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4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4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4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4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4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4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4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4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4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4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4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4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4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4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4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4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4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4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4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4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4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4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4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4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4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4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4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4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4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4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4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4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4400" b="1" dirty="0" smtClean="0">
                <a:solidFill>
                  <a:schemeClr val="accent6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Objectives</a:t>
            </a:r>
            <a:endParaRPr lang="en-US" sz="4400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57747" y="1592093"/>
            <a:ext cx="8355438" cy="4434633"/>
          </a:xfrm>
        </p:spPr>
        <p:txBody>
          <a:bodyPr>
            <a:normAutofit lnSpcReduction="10000"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b="1" dirty="0"/>
              <a:t>Data Collection: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We create and expand a translated Bangla-to-</a:t>
            </a:r>
            <a:r>
              <a:rPr lang="en-US" dirty="0" err="1"/>
              <a:t>Marma</a:t>
            </a:r>
            <a:r>
              <a:rPr lang="en-US" dirty="0"/>
              <a:t> sentiment dataset.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b="1" dirty="0"/>
              <a:t>Data Preprocessing: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We clean, tokenize, remove </a:t>
            </a:r>
            <a:r>
              <a:rPr lang="en-US" dirty="0" err="1"/>
              <a:t>stopwords</a:t>
            </a:r>
            <a:r>
              <a:rPr lang="en-US" dirty="0"/>
              <a:t>, and normalize the text.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b="1" dirty="0"/>
              <a:t>Model Design: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We use </a:t>
            </a:r>
            <a:r>
              <a:rPr lang="en-US" dirty="0" err="1"/>
              <a:t>CountVectorizer</a:t>
            </a:r>
            <a:r>
              <a:rPr lang="en-US" dirty="0"/>
              <a:t> with Unigram–Bigram features.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b="1" dirty="0"/>
              <a:t>Model Training: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We will train SVM, KNN, Decision Tree, and Logistic Regression on an 80/20 split</a:t>
            </a:r>
            <a:r>
              <a:rPr lang="en-US" dirty="0" smtClean="0"/>
              <a:t>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b="1" dirty="0" smtClean="0"/>
              <a:t>Comparative </a:t>
            </a:r>
            <a:r>
              <a:rPr lang="en-US" b="1" dirty="0"/>
              <a:t>Analysis: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We will evaluate models using Accuracy and F1 to find the best one.</a:t>
            </a:r>
          </a:p>
        </p:txBody>
      </p:sp>
      <p:sp>
        <p:nvSpPr>
          <p:cNvPr id="4" name="Rectangle 3"/>
          <p:cNvSpPr/>
          <p:nvPr/>
        </p:nvSpPr>
        <p:spPr>
          <a:xfrm>
            <a:off x="-1" y="6491348"/>
            <a:ext cx="12192000" cy="402712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 smtClean="0">
              <a:solidFill>
                <a:schemeClr val="accent6">
                  <a:lumMod val="50000"/>
                </a:schemeClr>
              </a:solidFill>
              <a:latin typeface="Agency FB" panose="020B0503020202020204" pitchFamily="34" charset="0"/>
            </a:endParaRPr>
          </a:p>
          <a:p>
            <a:pPr algn="ctr"/>
            <a:r>
              <a:rPr lang="en-US" sz="1600" b="1" dirty="0" smtClean="0">
                <a:solidFill>
                  <a:schemeClr val="bg1"/>
                </a:solidFill>
              </a:rPr>
              <a:t>Department </a:t>
            </a:r>
            <a:r>
              <a:rPr lang="en-US" sz="1600" b="1" dirty="0">
                <a:solidFill>
                  <a:schemeClr val="bg1"/>
                </a:solidFill>
              </a:rPr>
              <a:t>of Computer Science and Engineering</a:t>
            </a:r>
          </a:p>
          <a:p>
            <a:pPr algn="ctr"/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18113" y="106176"/>
            <a:ext cx="936139" cy="978554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3185" y="1373814"/>
            <a:ext cx="2341067" cy="4828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501117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40486"/>
    </mc:Choice>
    <mc:Fallback>
      <p:transition spd="slow" advTm="40486"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413163" y="595161"/>
            <a:ext cx="7620000" cy="779928"/>
          </a:xfrm>
        </p:spPr>
        <p:txBody>
          <a:bodyPr>
            <a:normAutofit fontScale="90000"/>
          </a:bodyPr>
          <a:lstStyle/>
          <a:p>
            <a:pPr algn="l"/>
            <a:r>
              <a:rPr lang="en-US" sz="4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4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4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4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4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4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4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4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4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4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4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4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4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4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4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4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4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4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4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4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4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4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4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4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4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4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4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4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4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4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4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4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4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4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4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4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4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4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4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4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4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4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4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4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4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4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4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4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4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4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4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4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4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4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4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4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4400" b="1" dirty="0" smtClean="0">
                <a:solidFill>
                  <a:schemeClr val="accent6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Dataset Descriptions</a:t>
            </a:r>
            <a:endParaRPr lang="en-US" sz="4400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13163" y="1724426"/>
            <a:ext cx="8880764" cy="4766922"/>
          </a:xfrm>
        </p:spPr>
        <p:txBody>
          <a:bodyPr>
            <a:normAutofit/>
          </a:bodyPr>
          <a:lstStyle/>
          <a:p>
            <a:pPr algn="l">
              <a:spcAft>
                <a:spcPts val="1800"/>
              </a:spcAft>
            </a:pPr>
            <a:r>
              <a:rPr lang="en-US" dirty="0"/>
              <a:t>• </a:t>
            </a:r>
            <a:r>
              <a:rPr lang="en-US" b="1" dirty="0"/>
              <a:t>Collection: </a:t>
            </a:r>
            <a:r>
              <a:rPr lang="en-US" dirty="0"/>
              <a:t>We are creating the </a:t>
            </a:r>
            <a:r>
              <a:rPr lang="en-US" dirty="0" err="1"/>
              <a:t>Marma</a:t>
            </a:r>
            <a:r>
              <a:rPr lang="en-US" dirty="0"/>
              <a:t> dataset through manual translation of Bangla sentences by </a:t>
            </a:r>
            <a:r>
              <a:rPr lang="en-US" dirty="0" err="1"/>
              <a:t>Marma</a:t>
            </a:r>
            <a:r>
              <a:rPr lang="en-US" dirty="0"/>
              <a:t> students</a:t>
            </a:r>
            <a:r>
              <a:rPr lang="en-US" dirty="0" smtClean="0"/>
              <a:t>.</a:t>
            </a:r>
          </a:p>
          <a:p>
            <a:pPr algn="l">
              <a:spcAft>
                <a:spcPts val="1800"/>
              </a:spcAft>
            </a:pPr>
            <a:r>
              <a:rPr lang="en-US" dirty="0" smtClean="0"/>
              <a:t>• </a:t>
            </a:r>
            <a:r>
              <a:rPr lang="en-US" b="1" dirty="0"/>
              <a:t>Labels: </a:t>
            </a:r>
            <a:r>
              <a:rPr lang="en-US" dirty="0"/>
              <a:t>We are tagging the translated </a:t>
            </a:r>
            <a:r>
              <a:rPr lang="en-US" dirty="0" err="1"/>
              <a:t>Marma</a:t>
            </a:r>
            <a:r>
              <a:rPr lang="en-US" dirty="0"/>
              <a:t> sentences as Positive, Negative, or Neutral</a:t>
            </a:r>
            <a:r>
              <a:rPr lang="en-US" dirty="0" smtClean="0"/>
              <a:t>.</a:t>
            </a:r>
          </a:p>
          <a:p>
            <a:pPr algn="l">
              <a:spcAft>
                <a:spcPts val="1800"/>
              </a:spcAft>
            </a:pPr>
            <a:r>
              <a:rPr lang="en-US" dirty="0" smtClean="0"/>
              <a:t>• </a:t>
            </a:r>
            <a:r>
              <a:rPr lang="en-US" b="1" dirty="0"/>
              <a:t>Script: </a:t>
            </a:r>
            <a:r>
              <a:rPr lang="en-US" dirty="0"/>
              <a:t>We are writing all </a:t>
            </a:r>
            <a:r>
              <a:rPr lang="en-US" dirty="0" err="1"/>
              <a:t>Marma</a:t>
            </a:r>
            <a:r>
              <a:rPr lang="en-US" dirty="0"/>
              <a:t> sentences using the Bangla script.</a:t>
            </a:r>
            <a:endParaRPr lang="en-US" dirty="0">
              <a:latin typeface="Times New Roman"/>
              <a:cs typeface="Times New Roman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-1" y="6491348"/>
            <a:ext cx="12192000" cy="402712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 smtClean="0">
              <a:solidFill>
                <a:schemeClr val="accent6">
                  <a:lumMod val="50000"/>
                </a:schemeClr>
              </a:solidFill>
              <a:latin typeface="Agency FB" panose="020B0503020202020204" pitchFamily="34" charset="0"/>
            </a:endParaRPr>
          </a:p>
          <a:p>
            <a:pPr algn="ctr"/>
            <a:r>
              <a:rPr lang="en-US" sz="1600" b="1" dirty="0" smtClean="0">
                <a:solidFill>
                  <a:schemeClr val="bg1"/>
                </a:solidFill>
              </a:rPr>
              <a:t>Department </a:t>
            </a:r>
            <a:r>
              <a:rPr lang="en-US" sz="1600" b="1" dirty="0">
                <a:solidFill>
                  <a:schemeClr val="bg1"/>
                </a:solidFill>
              </a:rPr>
              <a:t>of Computer Science and Engineering</a:t>
            </a:r>
          </a:p>
          <a:p>
            <a:pPr algn="ctr"/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18113" y="106176"/>
            <a:ext cx="936139" cy="978554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32" t="12087" r="5888" b="11817"/>
          <a:stretch/>
        </p:blipFill>
        <p:spPr>
          <a:xfrm>
            <a:off x="4956940" y="4544291"/>
            <a:ext cx="4187059" cy="17457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860341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9373"/>
    </mc:Choice>
    <mc:Fallback>
      <p:transition spd="slow" advTm="19373"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413165" y="587061"/>
            <a:ext cx="7620000" cy="779928"/>
          </a:xfrm>
        </p:spPr>
        <p:txBody>
          <a:bodyPr>
            <a:normAutofit fontScale="90000"/>
          </a:bodyPr>
          <a:lstStyle/>
          <a:p>
            <a:pPr algn="l"/>
            <a:r>
              <a:rPr lang="en-US" sz="4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4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4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4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4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4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4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4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4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4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4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4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4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4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4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4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4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4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4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4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4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4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4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4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4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4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4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4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4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4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4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4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4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4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4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4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4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4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4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4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4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4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4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4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4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4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4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4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4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4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4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4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4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4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4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4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4400" b="1" dirty="0" smtClean="0">
                <a:solidFill>
                  <a:schemeClr val="accent6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Methodology</a:t>
            </a:r>
            <a:endParaRPr lang="en-US" sz="4400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-1" y="6491348"/>
            <a:ext cx="12192000" cy="402712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 smtClean="0">
              <a:solidFill>
                <a:schemeClr val="accent6">
                  <a:lumMod val="50000"/>
                </a:schemeClr>
              </a:solidFill>
              <a:latin typeface="Agency FB" panose="020B0503020202020204" pitchFamily="34" charset="0"/>
            </a:endParaRPr>
          </a:p>
          <a:p>
            <a:pPr algn="ctr"/>
            <a:r>
              <a:rPr lang="en-US" sz="1600" b="1" dirty="0" smtClean="0">
                <a:solidFill>
                  <a:schemeClr val="bg1"/>
                </a:solidFill>
              </a:rPr>
              <a:t>Department </a:t>
            </a:r>
            <a:r>
              <a:rPr lang="en-US" sz="1600" b="1" dirty="0">
                <a:solidFill>
                  <a:schemeClr val="bg1"/>
                </a:solidFill>
              </a:rPr>
              <a:t>of Computer Science and Engineering</a:t>
            </a:r>
          </a:p>
          <a:p>
            <a:pPr algn="ctr"/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18113" y="106176"/>
            <a:ext cx="936139" cy="978554"/>
          </a:xfrm>
          <a:prstGeom prst="rect">
            <a:avLst/>
          </a:prstGeom>
        </p:spPr>
      </p:pic>
      <p:sp>
        <p:nvSpPr>
          <p:cNvPr id="6" name="Rectangle 1"/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1413165" y="2288809"/>
            <a:ext cx="4849090" cy="31700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504000" lvl="0" indent="-342900" algn="l" eaLnBrk="0" fontAlgn="base" hangingPunct="0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Font typeface="Wingdings" panose="05000000000000000000" pitchFamily="2" charset="2"/>
              <a:buChar char="q"/>
            </a:pPr>
            <a:r>
              <a:rPr lang="en-US" altLang="en-US" b="1" dirty="0" smtClean="0"/>
              <a:t>Data Cleaning</a:t>
            </a:r>
            <a:endParaRPr lang="en-US" altLang="en-US" b="1" dirty="0"/>
          </a:p>
          <a:p>
            <a:pPr marL="504000" lvl="0" indent="-342900" algn="l" eaLnBrk="0" fontAlgn="base" hangingPunct="0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Font typeface="Wingdings" panose="05000000000000000000" pitchFamily="2" charset="2"/>
              <a:buChar char="q"/>
            </a:pPr>
            <a:r>
              <a:rPr lang="en-US" altLang="en-US" b="1" dirty="0"/>
              <a:t>Sentence </a:t>
            </a:r>
            <a:r>
              <a:rPr lang="en-US" altLang="en-US" b="1" dirty="0" smtClean="0"/>
              <a:t>Tokenization</a:t>
            </a:r>
            <a:endParaRPr lang="en-US" altLang="en-US" b="1" dirty="0"/>
          </a:p>
          <a:p>
            <a:pPr marL="504000" indent="-342900" algn="l" eaLnBrk="0" fontAlgn="base" hangingPunct="0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Font typeface="Wingdings" panose="05000000000000000000" pitchFamily="2" charset="2"/>
              <a:buChar char="q"/>
            </a:pPr>
            <a:r>
              <a:rPr lang="en-US" altLang="en-US" b="1" dirty="0" err="1" smtClean="0"/>
              <a:t>Stopwords</a:t>
            </a:r>
            <a:r>
              <a:rPr lang="en-US" altLang="en-US" b="1" dirty="0" smtClean="0"/>
              <a:t> </a:t>
            </a:r>
            <a:r>
              <a:rPr lang="en-US" altLang="en-US" b="1" dirty="0"/>
              <a:t>Removal</a:t>
            </a:r>
          </a:p>
          <a:p>
            <a:pPr marL="504000" lvl="0" indent="-342900" algn="l" eaLnBrk="0" fontAlgn="base" hangingPunct="0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Font typeface="Wingdings" panose="05000000000000000000" pitchFamily="2" charset="2"/>
              <a:buChar char="q"/>
            </a:pPr>
            <a:r>
              <a:rPr lang="en-US" altLang="en-US" b="1" dirty="0"/>
              <a:t>Word-to-Vector (N-gram)</a:t>
            </a:r>
          </a:p>
          <a:p>
            <a:pPr marL="504000" lvl="0" indent="-342900" algn="l" eaLnBrk="0" fontAlgn="base" hangingPunct="0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Font typeface="Wingdings" panose="05000000000000000000" pitchFamily="2" charset="2"/>
              <a:buChar char="q"/>
            </a:pPr>
            <a:r>
              <a:rPr lang="en-US" altLang="en-US" b="1" dirty="0" smtClean="0"/>
              <a:t>Train–Test </a:t>
            </a:r>
            <a:r>
              <a:rPr lang="en-US" altLang="en-US" b="1" dirty="0"/>
              <a:t>Split</a:t>
            </a:r>
            <a:endParaRPr kumimoji="0" lang="en-US" altLang="en-US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67066" y="2288810"/>
            <a:ext cx="2272964" cy="3280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504715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9918"/>
    </mc:Choice>
    <mc:Fallback>
      <p:transition spd="slow" advTm="9918"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85454" y="554364"/>
            <a:ext cx="7620000" cy="779928"/>
          </a:xfrm>
        </p:spPr>
        <p:txBody>
          <a:bodyPr>
            <a:normAutofit fontScale="90000"/>
          </a:bodyPr>
          <a:lstStyle/>
          <a:p>
            <a:pPr algn="l"/>
            <a:r>
              <a:rPr lang="en-US" sz="4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4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4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4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4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4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4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4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4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4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4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4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4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4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4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4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4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4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4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4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4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4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4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4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4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4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4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4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4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4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4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4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4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4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4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4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4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4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4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4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4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4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4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4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4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4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4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4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4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4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4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4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4400" b="1" dirty="0" smtClean="0">
                <a:solidFill>
                  <a:schemeClr val="accent6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Methodology(Cont..)</a:t>
            </a:r>
            <a:endParaRPr lang="en-US" sz="4400" dirty="0"/>
          </a:p>
        </p:txBody>
      </p:sp>
      <p:sp>
        <p:nvSpPr>
          <p:cNvPr id="4" name="Rectangle 3"/>
          <p:cNvSpPr/>
          <p:nvPr/>
        </p:nvSpPr>
        <p:spPr>
          <a:xfrm>
            <a:off x="-1" y="6491348"/>
            <a:ext cx="12192000" cy="402712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 smtClean="0">
              <a:solidFill>
                <a:schemeClr val="accent6">
                  <a:lumMod val="50000"/>
                </a:schemeClr>
              </a:solidFill>
              <a:latin typeface="Agency FB" panose="020B0503020202020204" pitchFamily="34" charset="0"/>
            </a:endParaRPr>
          </a:p>
          <a:p>
            <a:pPr algn="ctr"/>
            <a:r>
              <a:rPr lang="en-US" sz="1600" b="1" dirty="0" smtClean="0">
                <a:solidFill>
                  <a:schemeClr val="bg1"/>
                </a:solidFill>
              </a:rPr>
              <a:t>Department </a:t>
            </a:r>
            <a:r>
              <a:rPr lang="en-US" sz="1600" b="1" dirty="0">
                <a:solidFill>
                  <a:schemeClr val="bg1"/>
                </a:solidFill>
              </a:rPr>
              <a:t>of Computer Science and Engineering</a:t>
            </a:r>
          </a:p>
          <a:p>
            <a:pPr algn="ctr"/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18113" y="106176"/>
            <a:ext cx="936139" cy="978554"/>
          </a:xfrm>
          <a:prstGeom prst="rect">
            <a:avLst/>
          </a:prstGeom>
        </p:spPr>
      </p:pic>
      <p:sp>
        <p:nvSpPr>
          <p:cNvPr id="6" name="Rectangle 1"/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1385454" y="1593037"/>
            <a:ext cx="10002982" cy="36625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618300" lvl="0" indent="-457200" algn="l" eaLnBrk="0" fontAlgn="base" hangingPunct="0">
              <a:lnSpc>
                <a:spcPct val="100000"/>
              </a:lnSpc>
              <a:spcBef>
                <a:spcPts val="1200"/>
              </a:spcBef>
              <a:spcAft>
                <a:spcPts val="600"/>
              </a:spcAft>
              <a:buFont typeface="Wingdings" panose="05000000000000000000" pitchFamily="2" charset="2"/>
              <a:buChar char="v"/>
            </a:pPr>
            <a:r>
              <a:rPr lang="en-US" altLang="en-US" sz="2800" b="1" dirty="0"/>
              <a:t>Data </a:t>
            </a:r>
            <a:r>
              <a:rPr lang="en-US" altLang="en-US" sz="2800" b="1" dirty="0" smtClean="0"/>
              <a:t>Cleaning:</a:t>
            </a:r>
            <a:endParaRPr lang="en-US" altLang="en-US" sz="2800" b="1" dirty="0"/>
          </a:p>
          <a:p>
            <a:pPr marL="504000" indent="-342900" algn="l" eaLnBrk="0" fontAlgn="base" hangingPunct="0">
              <a:lnSpc>
                <a:spcPct val="100000"/>
              </a:lnSpc>
              <a:spcBef>
                <a:spcPts val="12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en-US" b="1" dirty="0"/>
              <a:t>Character Removal: </a:t>
            </a:r>
            <a:r>
              <a:rPr lang="en-US" altLang="en-US" dirty="0"/>
              <a:t>We remove all symbols, numbers, and English letters</a:t>
            </a:r>
            <a:r>
              <a:rPr lang="en-US" altLang="en-US" dirty="0" smtClean="0"/>
              <a:t>.</a:t>
            </a:r>
            <a:endParaRPr lang="en-US" altLang="en-US" dirty="0"/>
          </a:p>
          <a:p>
            <a:pPr marL="504000" indent="-342900" algn="l" eaLnBrk="0" fontAlgn="base" hangingPunct="0">
              <a:lnSpc>
                <a:spcPct val="100000"/>
              </a:lnSpc>
              <a:spcBef>
                <a:spcPts val="12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en-US" b="1" dirty="0"/>
              <a:t>Link &amp; Tag Removal: </a:t>
            </a:r>
            <a:r>
              <a:rPr lang="en-US" altLang="en-US" dirty="0"/>
              <a:t>We delete website links, HTML tags, and line-break codes</a:t>
            </a:r>
            <a:r>
              <a:rPr lang="en-US" altLang="en-US" dirty="0" smtClean="0"/>
              <a:t>.</a:t>
            </a:r>
            <a:endParaRPr lang="en-US" altLang="en-US" dirty="0"/>
          </a:p>
          <a:p>
            <a:pPr marL="504000" indent="-342900" algn="l" eaLnBrk="0" fontAlgn="base" hangingPunct="0">
              <a:lnSpc>
                <a:spcPct val="100000"/>
              </a:lnSpc>
              <a:spcBef>
                <a:spcPts val="12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en-US" b="1" dirty="0"/>
              <a:t>Punctuation Fix: </a:t>
            </a:r>
            <a:r>
              <a:rPr lang="en-US" altLang="en-US" dirty="0"/>
              <a:t>We fix repeated punctuation marks </a:t>
            </a:r>
            <a:r>
              <a:rPr lang="en-US" altLang="en-US" dirty="0" smtClean="0"/>
              <a:t>( </a:t>
            </a:r>
            <a:r>
              <a:rPr lang="en-US" altLang="en-US" dirty="0"/>
              <a:t>!!!, </a:t>
            </a:r>
            <a:r>
              <a:rPr lang="en-US" altLang="en-US" dirty="0" smtClean="0"/>
              <a:t>??).</a:t>
            </a:r>
            <a:endParaRPr lang="en-US" altLang="en-US" dirty="0"/>
          </a:p>
          <a:p>
            <a:pPr marL="504000" indent="-342900" algn="l" eaLnBrk="0" fontAlgn="base" hangingPunct="0">
              <a:lnSpc>
                <a:spcPct val="100000"/>
              </a:lnSpc>
              <a:spcBef>
                <a:spcPts val="12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en-US" b="1" dirty="0"/>
              <a:t>Code/Emoji Cleanup: </a:t>
            </a:r>
            <a:r>
              <a:rPr lang="en-US" altLang="en-US" dirty="0"/>
              <a:t>We remove unwanted character codes and </a:t>
            </a:r>
            <a:r>
              <a:rPr lang="en-US" altLang="en-US" dirty="0" err="1"/>
              <a:t>emojis</a:t>
            </a:r>
            <a:r>
              <a:rPr lang="en-US" altLang="en-US" dirty="0"/>
              <a:t> from the text.</a:t>
            </a:r>
            <a:endParaRPr lang="en-US" altLang="en-US" sz="1800" dirty="0" smtClean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07" t="12581" r="4684" b="14438"/>
          <a:stretch/>
        </p:blipFill>
        <p:spPr>
          <a:xfrm>
            <a:off x="4765964" y="5031391"/>
            <a:ext cx="5140036" cy="1355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557773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5616"/>
    </mc:Choice>
    <mc:Fallback>
      <p:transition spd="slow" advTm="15616"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454728" y="595453"/>
            <a:ext cx="7620000" cy="779928"/>
          </a:xfrm>
        </p:spPr>
        <p:txBody>
          <a:bodyPr>
            <a:normAutofit fontScale="90000"/>
          </a:bodyPr>
          <a:lstStyle/>
          <a:p>
            <a:pPr algn="l"/>
            <a:r>
              <a:rPr lang="en-US" sz="4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4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4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4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4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4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4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4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4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4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4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4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4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4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4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4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4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4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4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4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4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4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4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4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4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4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4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4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4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4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4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4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4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4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4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4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4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4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4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4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4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4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4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4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4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4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4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4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4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4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4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4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4400" b="1" dirty="0" smtClean="0">
                <a:solidFill>
                  <a:schemeClr val="accent6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Methodology(Cont..)</a:t>
            </a:r>
            <a:endParaRPr lang="en-US" sz="4400" dirty="0"/>
          </a:p>
        </p:txBody>
      </p:sp>
      <p:sp>
        <p:nvSpPr>
          <p:cNvPr id="4" name="Rectangle 3"/>
          <p:cNvSpPr/>
          <p:nvPr/>
        </p:nvSpPr>
        <p:spPr>
          <a:xfrm>
            <a:off x="-1" y="6491348"/>
            <a:ext cx="12192000" cy="402712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 smtClean="0">
              <a:solidFill>
                <a:schemeClr val="accent6">
                  <a:lumMod val="50000"/>
                </a:schemeClr>
              </a:solidFill>
              <a:latin typeface="Agency FB" panose="020B0503020202020204" pitchFamily="34" charset="0"/>
            </a:endParaRPr>
          </a:p>
          <a:p>
            <a:pPr algn="ctr"/>
            <a:r>
              <a:rPr lang="en-US" sz="1600" b="1" dirty="0" smtClean="0">
                <a:solidFill>
                  <a:schemeClr val="bg1"/>
                </a:solidFill>
              </a:rPr>
              <a:t>Department </a:t>
            </a:r>
            <a:r>
              <a:rPr lang="en-US" sz="1600" b="1" dirty="0">
                <a:solidFill>
                  <a:schemeClr val="bg1"/>
                </a:solidFill>
              </a:rPr>
              <a:t>of Computer Science and Engineering</a:t>
            </a:r>
          </a:p>
          <a:p>
            <a:pPr algn="ctr"/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18113" y="106176"/>
            <a:ext cx="936139" cy="978554"/>
          </a:xfrm>
          <a:prstGeom prst="rect">
            <a:avLst/>
          </a:prstGeom>
        </p:spPr>
      </p:pic>
      <p:sp>
        <p:nvSpPr>
          <p:cNvPr id="6" name="Rectangle 1"/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1454728" y="1810649"/>
            <a:ext cx="10002982" cy="25545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618300" indent="-457200" algn="l" eaLnBrk="0" fontAlgn="base" hangingPunct="0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Font typeface="Wingdings" panose="05000000000000000000" pitchFamily="2" charset="2"/>
              <a:buChar char="v"/>
            </a:pPr>
            <a:r>
              <a:rPr lang="en-US" altLang="en-US" sz="2800" b="1" dirty="0"/>
              <a:t>Sentence </a:t>
            </a:r>
            <a:r>
              <a:rPr lang="en-US" altLang="en-US" sz="2800" b="1" dirty="0" smtClean="0"/>
              <a:t>Tokenization:</a:t>
            </a:r>
            <a:endParaRPr lang="en-US" altLang="en-US" sz="2800" b="1" dirty="0"/>
          </a:p>
          <a:p>
            <a:pPr marL="504000" indent="-342900" algn="l" eaLnBrk="0" fontAlgn="base" hangingPunct="0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altLang="en-US" b="1" dirty="0"/>
              <a:t>Break Sentences: </a:t>
            </a:r>
            <a:r>
              <a:rPr lang="en-US" altLang="en-US" dirty="0"/>
              <a:t>We split each sentence into individual words</a:t>
            </a:r>
            <a:r>
              <a:rPr lang="en-US" altLang="en-US" dirty="0" smtClean="0"/>
              <a:t>.</a:t>
            </a:r>
            <a:endParaRPr lang="en-US" altLang="en-US" dirty="0"/>
          </a:p>
          <a:p>
            <a:pPr marL="504000" indent="-342900" algn="l" eaLnBrk="0" fontAlgn="base" hangingPunct="0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altLang="en-US" b="1" dirty="0"/>
              <a:t>Split by Space: </a:t>
            </a:r>
            <a:r>
              <a:rPr lang="en-US" altLang="en-US" dirty="0"/>
              <a:t>Sentences are divided wherever there is a space</a:t>
            </a:r>
            <a:r>
              <a:rPr lang="en-US" altLang="en-US" dirty="0" smtClean="0"/>
              <a:t>.</a:t>
            </a:r>
            <a:endParaRPr lang="en-US" altLang="en-US" dirty="0"/>
          </a:p>
          <a:p>
            <a:pPr marL="504000" indent="-342900" algn="l" eaLnBrk="0" fontAlgn="base" hangingPunct="0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altLang="en-US" b="1" dirty="0"/>
              <a:t>Output Tokens: </a:t>
            </a:r>
            <a:r>
              <a:rPr lang="en-US" altLang="en-US" dirty="0"/>
              <a:t>The final result is a list of clean word tokens.</a:t>
            </a:r>
            <a:endParaRPr lang="en-US" altLang="en-US" sz="1800" dirty="0" smtClean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035" t="14542" r="7702" b="15145"/>
          <a:stretch/>
        </p:blipFill>
        <p:spPr>
          <a:xfrm>
            <a:off x="4530438" y="4451512"/>
            <a:ext cx="4225636" cy="19535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862616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9335"/>
    </mc:Choice>
    <mc:Fallback>
      <p:transition spd="slow" advTm="9335"/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482436" y="561491"/>
            <a:ext cx="7620000" cy="779928"/>
          </a:xfrm>
        </p:spPr>
        <p:txBody>
          <a:bodyPr>
            <a:normAutofit fontScale="90000"/>
          </a:bodyPr>
          <a:lstStyle/>
          <a:p>
            <a:pPr algn="l"/>
            <a:r>
              <a:rPr lang="en-US" sz="4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4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4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4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4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4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4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4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4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4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4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4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4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4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4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4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4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4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4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4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4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4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4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4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4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4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4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4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4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4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4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4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4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4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4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4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4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4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4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4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4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4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4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4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4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4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4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4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4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4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4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4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4400" b="1" dirty="0" smtClean="0">
                <a:solidFill>
                  <a:schemeClr val="accent6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Methodology(Cont..)</a:t>
            </a:r>
            <a:endParaRPr lang="en-US" sz="4400" dirty="0"/>
          </a:p>
        </p:txBody>
      </p:sp>
      <p:sp>
        <p:nvSpPr>
          <p:cNvPr id="4" name="Rectangle 3"/>
          <p:cNvSpPr/>
          <p:nvPr/>
        </p:nvSpPr>
        <p:spPr>
          <a:xfrm>
            <a:off x="-1" y="6491348"/>
            <a:ext cx="12192000" cy="402712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 smtClean="0">
              <a:solidFill>
                <a:schemeClr val="accent6">
                  <a:lumMod val="50000"/>
                </a:schemeClr>
              </a:solidFill>
              <a:latin typeface="Agency FB" panose="020B0503020202020204" pitchFamily="34" charset="0"/>
            </a:endParaRPr>
          </a:p>
          <a:p>
            <a:pPr algn="ctr"/>
            <a:r>
              <a:rPr lang="en-US" sz="1600" b="1" dirty="0" smtClean="0">
                <a:solidFill>
                  <a:schemeClr val="bg1"/>
                </a:solidFill>
              </a:rPr>
              <a:t>Department </a:t>
            </a:r>
            <a:r>
              <a:rPr lang="en-US" sz="1600" b="1" dirty="0">
                <a:solidFill>
                  <a:schemeClr val="bg1"/>
                </a:solidFill>
              </a:rPr>
              <a:t>of Computer Science and Engineering</a:t>
            </a:r>
          </a:p>
          <a:p>
            <a:pPr algn="ctr"/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18113" y="106176"/>
            <a:ext cx="936139" cy="978554"/>
          </a:xfrm>
          <a:prstGeom prst="rect">
            <a:avLst/>
          </a:prstGeom>
        </p:spPr>
      </p:pic>
      <p:sp>
        <p:nvSpPr>
          <p:cNvPr id="6" name="Rectangle 1"/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1482436" y="1991438"/>
            <a:ext cx="10487891" cy="2699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618300" indent="-457200" algn="l" eaLnBrk="0" fontAlgn="base" hangingPunct="0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Font typeface="Wingdings" panose="05000000000000000000" pitchFamily="2" charset="2"/>
              <a:buChar char="v"/>
            </a:pPr>
            <a:r>
              <a:rPr lang="en-US" altLang="en-US" sz="2800" b="1" dirty="0" err="1"/>
              <a:t>Stopwords</a:t>
            </a:r>
            <a:r>
              <a:rPr lang="en-US" altLang="en-US" sz="2800" b="1" dirty="0"/>
              <a:t> </a:t>
            </a:r>
            <a:r>
              <a:rPr lang="en-US" altLang="en-US" sz="2800" b="1" dirty="0" smtClean="0"/>
              <a:t>Removal:</a:t>
            </a:r>
          </a:p>
          <a:p>
            <a:pPr marL="342900" indent="-342900" algn="l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altLang="en-US" b="1" dirty="0"/>
              <a:t>Custom List: </a:t>
            </a:r>
            <a:r>
              <a:rPr lang="en-US" altLang="en-US" dirty="0"/>
              <a:t>We create a custom list of common words </a:t>
            </a:r>
            <a:r>
              <a:rPr lang="en-US" altLang="en-US" sz="2000" dirty="0" smtClean="0"/>
              <a:t>(“</a:t>
            </a:r>
            <a:r>
              <a:rPr lang="as-IN" sz="2000" dirty="0" smtClean="0"/>
              <a:t>আখ্য</a:t>
            </a:r>
            <a:r>
              <a:rPr lang="en-US" altLang="en-US" sz="2000" dirty="0" smtClean="0"/>
              <a:t>”, ”</a:t>
            </a:r>
            <a:r>
              <a:rPr lang="as-IN" sz="2000" dirty="0" smtClean="0"/>
              <a:t>ব্যা</a:t>
            </a:r>
            <a:r>
              <a:rPr lang="en-US" sz="2000" dirty="0" smtClean="0"/>
              <a:t>”, “</a:t>
            </a:r>
            <a:r>
              <a:rPr lang="as-IN" sz="2000" dirty="0" smtClean="0"/>
              <a:t>আসু</a:t>
            </a:r>
            <a:r>
              <a:rPr lang="en-US" sz="2000" dirty="0" smtClean="0"/>
              <a:t>”).</a:t>
            </a:r>
            <a:endParaRPr lang="en-US" altLang="en-US" sz="2000" dirty="0"/>
          </a:p>
          <a:p>
            <a:pPr marL="342900" indent="-342900" algn="l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altLang="en-US" b="1" dirty="0"/>
              <a:t>Filtering: </a:t>
            </a:r>
            <a:r>
              <a:rPr lang="en-US" altLang="en-US" dirty="0"/>
              <a:t>The system checks each word and removes any matches from the list</a:t>
            </a:r>
            <a:r>
              <a:rPr lang="en-US" altLang="en-US" dirty="0" smtClean="0"/>
              <a:t>.</a:t>
            </a:r>
            <a:endParaRPr lang="en-US" altLang="en-US" dirty="0"/>
          </a:p>
          <a:p>
            <a:pPr marL="342900" indent="-342900" algn="l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altLang="en-US" b="1" dirty="0"/>
              <a:t>Final Goal: </a:t>
            </a:r>
            <a:r>
              <a:rPr lang="en-US" altLang="en-US" dirty="0"/>
              <a:t>This eliminates words with no emotional meaning, making the text cleaner.</a:t>
            </a:r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3"/>
          <a:srcRect l="9129" t="15438" r="9729" b="14455"/>
          <a:stretch/>
        </p:blipFill>
        <p:spPr>
          <a:xfrm>
            <a:off x="4655129" y="4661190"/>
            <a:ext cx="3228108" cy="1705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630487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8568"/>
    </mc:Choice>
    <mc:Fallback>
      <p:transition spd="slow" advTm="18568"/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413164" y="595453"/>
            <a:ext cx="7620000" cy="779928"/>
          </a:xfrm>
        </p:spPr>
        <p:txBody>
          <a:bodyPr>
            <a:normAutofit fontScale="90000"/>
          </a:bodyPr>
          <a:lstStyle/>
          <a:p>
            <a:pPr algn="l"/>
            <a:r>
              <a:rPr lang="en-US" sz="4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4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4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4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4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4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4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4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4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4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4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4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4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4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4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4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4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4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4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4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4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4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4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4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4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4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4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4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4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4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4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4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4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4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4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4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4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4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4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4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4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4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4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4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4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4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4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4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4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4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4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4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4400" b="1" dirty="0" smtClean="0">
                <a:solidFill>
                  <a:schemeClr val="accent6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Methodology(Cont..)</a:t>
            </a:r>
            <a:endParaRPr lang="en-US" sz="4400" dirty="0"/>
          </a:p>
        </p:txBody>
      </p:sp>
      <p:sp>
        <p:nvSpPr>
          <p:cNvPr id="4" name="Rectangle 3"/>
          <p:cNvSpPr/>
          <p:nvPr/>
        </p:nvSpPr>
        <p:spPr>
          <a:xfrm>
            <a:off x="-1" y="6491348"/>
            <a:ext cx="12192000" cy="402712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 smtClean="0">
              <a:solidFill>
                <a:schemeClr val="accent6">
                  <a:lumMod val="50000"/>
                </a:schemeClr>
              </a:solidFill>
              <a:latin typeface="Agency FB" panose="020B0503020202020204" pitchFamily="34" charset="0"/>
            </a:endParaRPr>
          </a:p>
          <a:p>
            <a:pPr algn="ctr"/>
            <a:r>
              <a:rPr lang="en-US" sz="1600" b="1" dirty="0" smtClean="0">
                <a:solidFill>
                  <a:schemeClr val="bg1"/>
                </a:solidFill>
              </a:rPr>
              <a:t>Department </a:t>
            </a:r>
            <a:r>
              <a:rPr lang="en-US" sz="1600" b="1" dirty="0">
                <a:solidFill>
                  <a:schemeClr val="bg1"/>
                </a:solidFill>
              </a:rPr>
              <a:t>of Computer Science and Engineering</a:t>
            </a:r>
          </a:p>
          <a:p>
            <a:pPr algn="ctr"/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18113" y="106176"/>
            <a:ext cx="936139" cy="978554"/>
          </a:xfrm>
          <a:prstGeom prst="rect">
            <a:avLst/>
          </a:prstGeom>
        </p:spPr>
      </p:pic>
      <p:sp>
        <p:nvSpPr>
          <p:cNvPr id="6" name="Rectangle 1"/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1413164" y="1802672"/>
            <a:ext cx="10515600" cy="27238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618300" indent="-457200" algn="l" eaLnBrk="0" fontAlgn="base" hangingPunct="0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Font typeface="Wingdings" panose="05000000000000000000" pitchFamily="2" charset="2"/>
              <a:buChar char="v"/>
            </a:pPr>
            <a:r>
              <a:rPr lang="en-US" altLang="en-US" sz="2800" b="1" dirty="0"/>
              <a:t>Word-to-Vector (</a:t>
            </a:r>
            <a:r>
              <a:rPr lang="en-US" altLang="en-US" sz="2800" b="1" dirty="0" smtClean="0"/>
              <a:t>N-gram):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b="1" dirty="0"/>
              <a:t>Goal: </a:t>
            </a:r>
            <a:r>
              <a:rPr lang="en-US" dirty="0"/>
              <a:t>We convert each clean </a:t>
            </a:r>
            <a:r>
              <a:rPr lang="en-US" dirty="0" err="1"/>
              <a:t>Marma</a:t>
            </a:r>
            <a:r>
              <a:rPr lang="en-US" dirty="0"/>
              <a:t> word into a numeric representation (vector</a:t>
            </a:r>
            <a:r>
              <a:rPr lang="en-US" dirty="0" smtClean="0"/>
              <a:t>).</a:t>
            </a:r>
            <a:endParaRPr lang="en-US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b="1" dirty="0"/>
              <a:t>Tool: </a:t>
            </a:r>
            <a:r>
              <a:rPr lang="en-US" dirty="0"/>
              <a:t>We use </a:t>
            </a:r>
            <a:r>
              <a:rPr lang="en-US" dirty="0" err="1"/>
              <a:t>CountVectorizer</a:t>
            </a:r>
            <a:r>
              <a:rPr lang="en-US" dirty="0"/>
              <a:t> for this conversion</a:t>
            </a:r>
            <a:r>
              <a:rPr lang="en-US" dirty="0" smtClean="0"/>
              <a:t>.</a:t>
            </a:r>
            <a:endParaRPr lang="en-US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b="1" dirty="0"/>
              <a:t>Feature Type: </a:t>
            </a:r>
            <a:r>
              <a:rPr lang="en-US" dirty="0"/>
              <a:t>We capture both single words (unigrams) and two-word pairs (bigrams).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45" t="10628" r="4821" b="12273"/>
          <a:stretch/>
        </p:blipFill>
        <p:spPr>
          <a:xfrm>
            <a:off x="4052455" y="4345071"/>
            <a:ext cx="5237018" cy="17987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987318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7726"/>
    </mc:Choice>
    <mc:Fallback>
      <p:transition spd="slow" advTm="17726"/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454727" y="595453"/>
            <a:ext cx="7620000" cy="779928"/>
          </a:xfrm>
        </p:spPr>
        <p:txBody>
          <a:bodyPr>
            <a:normAutofit fontScale="90000"/>
          </a:bodyPr>
          <a:lstStyle/>
          <a:p>
            <a:pPr algn="l"/>
            <a:r>
              <a:rPr lang="en-US" sz="4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4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4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4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4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4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4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4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4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4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4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4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4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4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4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4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4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4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4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4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4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4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4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4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4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4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4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4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4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4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4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4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4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4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4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4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4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4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4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4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4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4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4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4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4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4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4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4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4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4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4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4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4400" b="1" dirty="0" smtClean="0">
                <a:solidFill>
                  <a:schemeClr val="accent6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Methodology(Cont..)</a:t>
            </a:r>
            <a:endParaRPr lang="en-US" sz="4400" dirty="0"/>
          </a:p>
        </p:txBody>
      </p:sp>
      <p:sp>
        <p:nvSpPr>
          <p:cNvPr id="4" name="Rectangle 3"/>
          <p:cNvSpPr/>
          <p:nvPr/>
        </p:nvSpPr>
        <p:spPr>
          <a:xfrm>
            <a:off x="-1" y="6491348"/>
            <a:ext cx="12192000" cy="402712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 smtClean="0">
              <a:solidFill>
                <a:schemeClr val="accent6">
                  <a:lumMod val="50000"/>
                </a:schemeClr>
              </a:solidFill>
              <a:latin typeface="Agency FB" panose="020B0503020202020204" pitchFamily="34" charset="0"/>
            </a:endParaRPr>
          </a:p>
          <a:p>
            <a:pPr algn="ctr"/>
            <a:r>
              <a:rPr lang="en-US" sz="1600" b="1" dirty="0" smtClean="0">
                <a:solidFill>
                  <a:schemeClr val="bg1"/>
                </a:solidFill>
              </a:rPr>
              <a:t>Department </a:t>
            </a:r>
            <a:r>
              <a:rPr lang="en-US" sz="1600" b="1" dirty="0">
                <a:solidFill>
                  <a:schemeClr val="bg1"/>
                </a:solidFill>
              </a:rPr>
              <a:t>of Computer Science and Engineering</a:t>
            </a:r>
          </a:p>
          <a:p>
            <a:pPr algn="ctr"/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18113" y="106176"/>
            <a:ext cx="936139" cy="978554"/>
          </a:xfrm>
          <a:prstGeom prst="rect">
            <a:avLst/>
          </a:prstGeom>
        </p:spPr>
      </p:pic>
      <p:sp>
        <p:nvSpPr>
          <p:cNvPr id="6" name="Rectangle 1"/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1454727" y="1607442"/>
            <a:ext cx="10668000" cy="436119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618300" indent="-457200" algn="l" eaLnBrk="0" fontAlgn="base" hangingPunct="0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Font typeface="Wingdings" panose="05000000000000000000" pitchFamily="2" charset="2"/>
              <a:buChar char="v"/>
            </a:pPr>
            <a:r>
              <a:rPr lang="en-US" altLang="en-US" sz="2800" b="1" dirty="0"/>
              <a:t>Train–Test </a:t>
            </a:r>
            <a:r>
              <a:rPr lang="en-US" altLang="en-US" sz="2800" b="1" dirty="0" smtClean="0"/>
              <a:t>Split :</a:t>
            </a:r>
          </a:p>
          <a:p>
            <a:pPr marL="342900" indent="-342900" algn="l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b="1" dirty="0"/>
              <a:t> Goal: </a:t>
            </a:r>
            <a:r>
              <a:rPr lang="en-US" dirty="0"/>
              <a:t>We split the dataset to test the model on unseen examples.</a:t>
            </a:r>
          </a:p>
          <a:p>
            <a:pPr marL="342900" indent="-342900" algn="l">
              <a:spcBef>
                <a:spcPts val="600"/>
              </a:spcBef>
              <a:buFont typeface="Arial" panose="020B0604020202020204" pitchFamily="34" charset="0"/>
              <a:buChar char="•"/>
            </a:pPr>
            <a:endParaRPr lang="en-US" dirty="0"/>
          </a:p>
          <a:p>
            <a:pPr marL="342900" indent="-342900" algn="l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b="1" dirty="0" smtClean="0"/>
              <a:t>Ratio: </a:t>
            </a:r>
            <a:r>
              <a:rPr lang="en-US" dirty="0" smtClean="0"/>
              <a:t>80</a:t>
            </a:r>
            <a:r>
              <a:rPr lang="en-US" dirty="0"/>
              <a:t>% of the data is used for training, and 20% is reserved for testing.</a:t>
            </a:r>
          </a:p>
          <a:p>
            <a:pPr marL="342900" indent="-342900" algn="l">
              <a:spcBef>
                <a:spcPts val="600"/>
              </a:spcBef>
              <a:buFont typeface="Arial" panose="020B0604020202020204" pitchFamily="34" charset="0"/>
              <a:buChar char="•"/>
            </a:pPr>
            <a:endParaRPr lang="en-US" dirty="0"/>
          </a:p>
          <a:p>
            <a:pPr marL="342900" indent="-342900" algn="l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b="1" dirty="0"/>
              <a:t>Training Set: </a:t>
            </a:r>
            <a:r>
              <a:rPr lang="en-US" dirty="0"/>
              <a:t>This larger portion is used to teach the model.</a:t>
            </a:r>
          </a:p>
          <a:p>
            <a:pPr marL="342900" indent="-342900" algn="l">
              <a:spcBef>
                <a:spcPts val="600"/>
              </a:spcBef>
              <a:buFont typeface="Arial" panose="020B0604020202020204" pitchFamily="34" charset="0"/>
              <a:buChar char="•"/>
            </a:pPr>
            <a:endParaRPr lang="en-US" dirty="0"/>
          </a:p>
          <a:p>
            <a:pPr marL="342900" indent="-342900" algn="l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b="1" dirty="0"/>
              <a:t>Testing Set: </a:t>
            </a:r>
            <a:r>
              <a:rPr lang="en-US" dirty="0"/>
              <a:t>This portion is kept separate to measure true performance.</a:t>
            </a:r>
          </a:p>
          <a:p>
            <a:pPr marL="342900" indent="-342900" algn="l">
              <a:spcBef>
                <a:spcPts val="600"/>
              </a:spcBef>
              <a:buFont typeface="Arial" panose="020B0604020202020204" pitchFamily="34" charset="0"/>
              <a:buChar char="•"/>
            </a:pPr>
            <a:endParaRPr lang="en-US" dirty="0"/>
          </a:p>
          <a:p>
            <a:pPr marL="342900" indent="-342900" algn="l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b="1" dirty="0"/>
              <a:t>Random State: </a:t>
            </a:r>
            <a:r>
              <a:rPr lang="en-US" dirty="0"/>
              <a:t>We use a fixed value to ensure the split is consistent every time.</a:t>
            </a:r>
          </a:p>
        </p:txBody>
      </p:sp>
    </p:spTree>
    <p:extLst>
      <p:ext uri="{BB962C8B-B14F-4D97-AF65-F5344CB8AC3E}">
        <p14:creationId xmlns:p14="http://schemas.microsoft.com/office/powerpoint/2010/main" val="375010139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1563"/>
    </mc:Choice>
    <mc:Fallback>
      <p:transition spd="slow" advTm="11563"/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30037" y="560945"/>
            <a:ext cx="7620000" cy="779928"/>
          </a:xfrm>
        </p:spPr>
        <p:txBody>
          <a:bodyPr>
            <a:normAutofit/>
          </a:bodyPr>
          <a:lstStyle/>
          <a:p>
            <a:pPr algn="l"/>
            <a:r>
              <a:rPr lang="en-US" sz="4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4000" b="1" dirty="0">
                <a:solidFill>
                  <a:schemeClr val="accent6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Machine Learning Models</a:t>
            </a:r>
            <a:endParaRPr lang="en-US" sz="4400" b="1" dirty="0">
              <a:solidFill>
                <a:schemeClr val="accent6">
                  <a:lumMod val="7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30037" y="1977002"/>
            <a:ext cx="9864436" cy="4105143"/>
          </a:xfrm>
        </p:spPr>
        <p:txBody>
          <a:bodyPr/>
          <a:lstStyle/>
          <a:p>
            <a:pPr algn="l">
              <a:spcAft>
                <a:spcPts val="1800"/>
              </a:spcAft>
            </a:pPr>
            <a:r>
              <a:rPr lang="en-US" dirty="0"/>
              <a:t>• </a:t>
            </a:r>
            <a:r>
              <a:rPr lang="en-US" b="1" dirty="0"/>
              <a:t>Logistic Regression (LR): </a:t>
            </a:r>
            <a:r>
              <a:rPr lang="en-US" dirty="0"/>
              <a:t>Our simple model for separating data.</a:t>
            </a:r>
          </a:p>
          <a:p>
            <a:pPr algn="l">
              <a:spcAft>
                <a:spcPts val="1800"/>
              </a:spcAft>
            </a:pPr>
            <a:r>
              <a:rPr lang="en-US" dirty="0"/>
              <a:t>• </a:t>
            </a:r>
            <a:r>
              <a:rPr lang="en-US" b="1" dirty="0"/>
              <a:t>Support Vector Machine (SVM): </a:t>
            </a:r>
            <a:r>
              <a:rPr lang="en-US" dirty="0"/>
              <a:t>Finds the widest margin to divide classes.</a:t>
            </a:r>
          </a:p>
          <a:p>
            <a:pPr algn="l">
              <a:spcAft>
                <a:spcPts val="1800"/>
              </a:spcAft>
            </a:pPr>
            <a:r>
              <a:rPr lang="en-US" dirty="0"/>
              <a:t>• </a:t>
            </a:r>
            <a:r>
              <a:rPr lang="en-US" b="1" dirty="0"/>
              <a:t>K-Nearest Neighbors (KNN): </a:t>
            </a:r>
            <a:r>
              <a:rPr lang="en-US" dirty="0"/>
              <a:t>Classifies text by looking at the closest examples.</a:t>
            </a:r>
          </a:p>
          <a:p>
            <a:pPr algn="l">
              <a:spcAft>
                <a:spcPts val="1800"/>
              </a:spcAft>
            </a:pPr>
            <a:r>
              <a:rPr lang="en-US" dirty="0"/>
              <a:t>• </a:t>
            </a:r>
            <a:r>
              <a:rPr lang="en-US" b="1" dirty="0"/>
              <a:t>Decision Tree: </a:t>
            </a:r>
            <a:r>
              <a:rPr lang="en-US" dirty="0"/>
              <a:t>Uses rule-based trees to categorize sentiment.</a:t>
            </a:r>
            <a:endParaRPr lang="en-US" dirty="0">
              <a:cs typeface="Times New Roman"/>
            </a:endParaRPr>
          </a:p>
          <a:p>
            <a:pPr algn="l"/>
            <a:endParaRPr lang="en-US" dirty="0" smtClean="0">
              <a:cs typeface="Times New Roman"/>
            </a:endParaRPr>
          </a:p>
          <a:p>
            <a:pPr algn="l"/>
            <a:endParaRPr lang="en-US" dirty="0">
              <a:cs typeface="Times New Roman"/>
            </a:endParaRPr>
          </a:p>
          <a:p>
            <a:pPr algn="l"/>
            <a:endParaRPr lang="en-US" dirty="0" smtClean="0">
              <a:cs typeface="Times New Roman"/>
            </a:endParaRPr>
          </a:p>
          <a:p>
            <a:pPr algn="l"/>
            <a:endParaRPr lang="en-US" dirty="0">
              <a:cs typeface="Times New Roman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-1" y="6491348"/>
            <a:ext cx="12192000" cy="402712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 smtClean="0">
              <a:solidFill>
                <a:schemeClr val="accent6">
                  <a:lumMod val="50000"/>
                </a:schemeClr>
              </a:solidFill>
              <a:latin typeface="Agency FB" panose="020B0503020202020204" pitchFamily="34" charset="0"/>
            </a:endParaRPr>
          </a:p>
          <a:p>
            <a:pPr algn="ctr"/>
            <a:r>
              <a:rPr lang="en-US" sz="1600" b="1" dirty="0" smtClean="0">
                <a:solidFill>
                  <a:schemeClr val="bg1"/>
                </a:solidFill>
              </a:rPr>
              <a:t>Department </a:t>
            </a:r>
            <a:r>
              <a:rPr lang="en-US" sz="1600" b="1" dirty="0">
                <a:solidFill>
                  <a:schemeClr val="bg1"/>
                </a:solidFill>
              </a:rPr>
              <a:t>of Computer Science and Engineering</a:t>
            </a:r>
          </a:p>
          <a:p>
            <a:pPr algn="ctr"/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18113" y="106176"/>
            <a:ext cx="936139" cy="9785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825790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44137"/>
    </mc:Choice>
    <mc:Fallback>
      <p:transition spd="slow" advTm="44137"/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13018" y="451347"/>
            <a:ext cx="7620000" cy="779928"/>
          </a:xfrm>
        </p:spPr>
        <p:txBody>
          <a:bodyPr>
            <a:normAutofit fontScale="90000"/>
          </a:bodyPr>
          <a:lstStyle/>
          <a:p>
            <a:pPr algn="l"/>
            <a:r>
              <a:rPr lang="en-US" sz="4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4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4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4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4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4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4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4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4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4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4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4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4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4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4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4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4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4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4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4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4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4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4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4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4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4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4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4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4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4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4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4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4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4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4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4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4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4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4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4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4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4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4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4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4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4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4400" b="1" dirty="0" smtClean="0">
                <a:solidFill>
                  <a:schemeClr val="accent6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Expected Results</a:t>
            </a:r>
            <a:endParaRPr lang="en-US" sz="4400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13018" y="1751313"/>
            <a:ext cx="10130836" cy="4740035"/>
          </a:xfrm>
        </p:spPr>
        <p:txBody>
          <a:bodyPr>
            <a:noAutofit/>
          </a:bodyPr>
          <a:lstStyle/>
          <a:p>
            <a:pPr algn="l"/>
            <a:endParaRPr lang="en-US" sz="1100" dirty="0">
              <a:cs typeface="Times New Roman"/>
            </a:endParaRPr>
          </a:p>
          <a:p>
            <a:pPr algn="l">
              <a:spcAft>
                <a:spcPts val="1800"/>
              </a:spcAft>
            </a:pPr>
            <a:r>
              <a:rPr lang="en-US" dirty="0"/>
              <a:t>• </a:t>
            </a:r>
            <a:r>
              <a:rPr lang="en-US" b="1" dirty="0"/>
              <a:t>Target Score: </a:t>
            </a:r>
            <a:r>
              <a:rPr lang="en-US" dirty="0"/>
              <a:t>We will aim for high accuracy.</a:t>
            </a:r>
          </a:p>
          <a:p>
            <a:pPr algn="l">
              <a:spcAft>
                <a:spcPts val="1800"/>
              </a:spcAft>
            </a:pPr>
            <a:r>
              <a:rPr lang="en-US" dirty="0"/>
              <a:t>• </a:t>
            </a:r>
            <a:r>
              <a:rPr lang="en-US" b="1" dirty="0"/>
              <a:t>Top Model: </a:t>
            </a:r>
            <a:r>
              <a:rPr lang="en-US" dirty="0"/>
              <a:t>Expected to perform the best, though not run yet</a:t>
            </a:r>
            <a:r>
              <a:rPr lang="en-US" dirty="0" smtClean="0"/>
              <a:t>.</a:t>
            </a:r>
          </a:p>
          <a:p>
            <a:pPr algn="l">
              <a:spcAft>
                <a:spcPts val="1800"/>
              </a:spcAft>
            </a:pPr>
            <a:r>
              <a:rPr lang="en-US" dirty="0" smtClean="0"/>
              <a:t>• </a:t>
            </a:r>
            <a:r>
              <a:rPr lang="en-US" b="1" dirty="0"/>
              <a:t>Metrics Used</a:t>
            </a:r>
            <a:r>
              <a:rPr lang="en-US" dirty="0"/>
              <a:t>: We will measure performance using Accuracy and F1-Score.</a:t>
            </a:r>
          </a:p>
          <a:p>
            <a:pPr algn="l">
              <a:spcAft>
                <a:spcPts val="1800"/>
              </a:spcAft>
            </a:pPr>
            <a:r>
              <a:rPr lang="en-US" dirty="0"/>
              <a:t>• </a:t>
            </a:r>
            <a:r>
              <a:rPr lang="en-US" b="1" dirty="0"/>
              <a:t>Benchmark: </a:t>
            </a:r>
            <a:r>
              <a:rPr lang="en-US" dirty="0"/>
              <a:t>This project will establish the first benchmark for </a:t>
            </a:r>
            <a:r>
              <a:rPr lang="en-US" dirty="0" err="1"/>
              <a:t>Marma</a:t>
            </a:r>
            <a:r>
              <a:rPr lang="en-US" dirty="0"/>
              <a:t> sentiment analysis.</a:t>
            </a:r>
            <a:endParaRPr lang="en-US" dirty="0" smtClean="0"/>
          </a:p>
          <a:p>
            <a:pPr algn="l"/>
            <a:endParaRPr lang="en-US" sz="1100" dirty="0">
              <a:cs typeface="Times New Roman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-1" y="6491348"/>
            <a:ext cx="12192000" cy="402712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 smtClean="0">
              <a:solidFill>
                <a:schemeClr val="accent6">
                  <a:lumMod val="50000"/>
                </a:schemeClr>
              </a:solidFill>
              <a:latin typeface="Agency FB" panose="020B0503020202020204" pitchFamily="34" charset="0"/>
            </a:endParaRPr>
          </a:p>
          <a:p>
            <a:pPr algn="ctr"/>
            <a:r>
              <a:rPr lang="en-US" sz="1600" b="1" dirty="0" smtClean="0">
                <a:solidFill>
                  <a:schemeClr val="bg1"/>
                </a:solidFill>
              </a:rPr>
              <a:t>Department </a:t>
            </a:r>
            <a:r>
              <a:rPr lang="en-US" sz="1600" b="1" dirty="0">
                <a:solidFill>
                  <a:schemeClr val="bg1"/>
                </a:solidFill>
              </a:rPr>
              <a:t>of Computer Science and Engineering</a:t>
            </a:r>
          </a:p>
          <a:p>
            <a:pPr algn="ctr"/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18113" y="106176"/>
            <a:ext cx="936139" cy="9785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360832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1623"/>
    </mc:Choice>
    <mc:Fallback>
      <p:transition spd="slow" advTm="31623"/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13017" y="499548"/>
            <a:ext cx="7620000" cy="779928"/>
          </a:xfrm>
        </p:spPr>
        <p:txBody>
          <a:bodyPr>
            <a:normAutofit fontScale="90000"/>
          </a:bodyPr>
          <a:lstStyle/>
          <a:p>
            <a:pPr algn="l"/>
            <a:r>
              <a:rPr lang="en-US" sz="4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4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4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4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4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4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4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4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4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4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4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4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4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4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4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4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4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4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4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4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4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4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4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4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4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4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4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4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4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4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4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4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4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4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4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4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4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4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4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4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4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4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4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4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4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4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4400" b="1" dirty="0">
                <a:solidFill>
                  <a:schemeClr val="accent6">
                    <a:lumMod val="75000"/>
                  </a:schemeClr>
                </a:solidFill>
                <a:latin typeface="+mn-lt"/>
              </a:rPr>
              <a:t>Completed Work Summary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13017" y="1474222"/>
            <a:ext cx="10089273" cy="3610396"/>
          </a:xfrm>
        </p:spPr>
        <p:txBody>
          <a:bodyPr>
            <a:noAutofit/>
          </a:bodyPr>
          <a:lstStyle/>
          <a:p>
            <a:pPr marL="171450" indent="-171450" algn="l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>
                <a:cs typeface="Times New Roman"/>
              </a:rPr>
              <a:t>Collected 200+ Bangla–</a:t>
            </a:r>
            <a:r>
              <a:rPr lang="en-US" dirty="0" err="1">
                <a:cs typeface="Times New Roman"/>
              </a:rPr>
              <a:t>Marma</a:t>
            </a:r>
            <a:r>
              <a:rPr lang="en-US" dirty="0">
                <a:cs typeface="Times New Roman"/>
              </a:rPr>
              <a:t> sentence pairs from </a:t>
            </a:r>
            <a:r>
              <a:rPr lang="en-US" dirty="0" err="1">
                <a:cs typeface="Times New Roman"/>
              </a:rPr>
              <a:t>Marma</a:t>
            </a:r>
            <a:r>
              <a:rPr lang="en-US" dirty="0">
                <a:cs typeface="Times New Roman"/>
              </a:rPr>
              <a:t> students.</a:t>
            </a:r>
          </a:p>
          <a:p>
            <a:pPr marL="171450" indent="-171450" algn="l">
              <a:spcBef>
                <a:spcPts val="600"/>
              </a:spcBef>
              <a:buFont typeface="Arial" panose="020B0604020202020204" pitchFamily="34" charset="0"/>
              <a:buChar char="•"/>
            </a:pPr>
            <a:endParaRPr lang="en-US" dirty="0">
              <a:cs typeface="Times New Roman"/>
            </a:endParaRPr>
          </a:p>
          <a:p>
            <a:pPr marL="171450" indent="-171450" algn="l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>
                <a:cs typeface="Times New Roman"/>
              </a:rPr>
              <a:t>Reviewed existing sentiment-analysis workflows from other languages.</a:t>
            </a:r>
          </a:p>
          <a:p>
            <a:pPr marL="171450" indent="-171450" algn="l">
              <a:spcBef>
                <a:spcPts val="600"/>
              </a:spcBef>
              <a:buFont typeface="Arial" panose="020B0604020202020204" pitchFamily="34" charset="0"/>
              <a:buChar char="•"/>
            </a:pPr>
            <a:endParaRPr lang="en-US" dirty="0">
              <a:cs typeface="Times New Roman"/>
            </a:endParaRPr>
          </a:p>
          <a:p>
            <a:pPr marL="171450" indent="-171450" algn="l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>
                <a:cs typeface="Times New Roman"/>
              </a:rPr>
              <a:t>Studied Data Cleaning, Tokenization, </a:t>
            </a:r>
            <a:r>
              <a:rPr lang="en-US" dirty="0" err="1">
                <a:cs typeface="Times New Roman"/>
              </a:rPr>
              <a:t>Stopword</a:t>
            </a:r>
            <a:r>
              <a:rPr lang="en-US" dirty="0">
                <a:cs typeface="Times New Roman"/>
              </a:rPr>
              <a:t> Removal, N-gram Vectorization, and Train–Test Split methods.</a:t>
            </a:r>
          </a:p>
          <a:p>
            <a:pPr marL="171450" indent="-171450" algn="l">
              <a:spcBef>
                <a:spcPts val="600"/>
              </a:spcBef>
              <a:buFont typeface="Arial" panose="020B0604020202020204" pitchFamily="34" charset="0"/>
              <a:buChar char="•"/>
            </a:pPr>
            <a:endParaRPr lang="en-US" dirty="0">
              <a:cs typeface="Times New Roman"/>
            </a:endParaRPr>
          </a:p>
          <a:p>
            <a:pPr marL="171450" indent="-171450" algn="l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>
                <a:cs typeface="Times New Roman"/>
              </a:rPr>
              <a:t>Planned execution steps with supervisor guidance.</a:t>
            </a:r>
          </a:p>
          <a:p>
            <a:pPr marL="171450" indent="-171450" algn="l">
              <a:spcBef>
                <a:spcPts val="600"/>
              </a:spcBef>
              <a:buFont typeface="Arial" panose="020B0604020202020204" pitchFamily="34" charset="0"/>
              <a:buChar char="•"/>
            </a:pPr>
            <a:endParaRPr lang="en-US" dirty="0">
              <a:cs typeface="Times New Roman"/>
            </a:endParaRPr>
          </a:p>
          <a:p>
            <a:pPr marL="171450" indent="-171450" algn="l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>
                <a:cs typeface="Times New Roman"/>
              </a:rPr>
              <a:t>Tested sentiment-analysis flow using a Bangla dataset as a reference.</a:t>
            </a:r>
          </a:p>
        </p:txBody>
      </p:sp>
      <p:sp>
        <p:nvSpPr>
          <p:cNvPr id="4" name="Rectangle 3"/>
          <p:cNvSpPr/>
          <p:nvPr/>
        </p:nvSpPr>
        <p:spPr>
          <a:xfrm>
            <a:off x="-1" y="6491348"/>
            <a:ext cx="12192000" cy="402712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 smtClean="0">
              <a:solidFill>
                <a:schemeClr val="accent6">
                  <a:lumMod val="50000"/>
                </a:schemeClr>
              </a:solidFill>
              <a:latin typeface="Agency FB" panose="020B0503020202020204" pitchFamily="34" charset="0"/>
            </a:endParaRPr>
          </a:p>
          <a:p>
            <a:pPr algn="ctr"/>
            <a:r>
              <a:rPr lang="en-US" sz="1600" b="1" dirty="0" smtClean="0">
                <a:solidFill>
                  <a:schemeClr val="bg1"/>
                </a:solidFill>
              </a:rPr>
              <a:t>Department </a:t>
            </a:r>
            <a:r>
              <a:rPr lang="en-US" sz="1600" b="1" dirty="0">
                <a:solidFill>
                  <a:schemeClr val="bg1"/>
                </a:solidFill>
              </a:rPr>
              <a:t>of Computer Science and Engineering</a:t>
            </a:r>
          </a:p>
          <a:p>
            <a:pPr algn="ctr"/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18113" y="106176"/>
            <a:ext cx="936139" cy="9785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782202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6754"/>
    </mc:Choice>
    <mc:Fallback>
      <p:transition spd="slow" advTm="26754"/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437709" y="499548"/>
            <a:ext cx="7620000" cy="779928"/>
          </a:xfrm>
        </p:spPr>
        <p:txBody>
          <a:bodyPr>
            <a:normAutofit fontScale="90000"/>
          </a:bodyPr>
          <a:lstStyle/>
          <a:p>
            <a:pPr algn="l"/>
            <a:r>
              <a:rPr lang="en-US" sz="4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4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4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4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4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4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4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4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4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4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4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4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4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4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4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4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4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4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4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4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4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4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4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4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4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4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4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4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4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4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4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4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4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4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4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4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4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4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4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4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4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4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4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4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4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4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4400" b="1" dirty="0" smtClean="0">
                <a:solidFill>
                  <a:schemeClr val="accent6">
                    <a:lumMod val="75000"/>
                  </a:schemeClr>
                </a:solidFill>
                <a:latin typeface="+mn-lt"/>
                <a:sym typeface="Calibri"/>
              </a:rPr>
              <a:t>Pending Works</a:t>
            </a:r>
            <a:endParaRPr lang="en-US" sz="4400" b="1" dirty="0">
              <a:solidFill>
                <a:schemeClr val="accent6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37709" y="1474222"/>
            <a:ext cx="10089273" cy="3610396"/>
          </a:xfrm>
        </p:spPr>
        <p:txBody>
          <a:bodyPr>
            <a:noAutofit/>
          </a:bodyPr>
          <a:lstStyle/>
          <a:p>
            <a:pPr marL="171450" indent="-171450" algn="l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dirty="0">
                <a:cs typeface="Times New Roman"/>
              </a:rPr>
              <a:t>Collect full </a:t>
            </a:r>
            <a:r>
              <a:rPr lang="en-US" dirty="0" err="1">
                <a:cs typeface="Times New Roman"/>
              </a:rPr>
              <a:t>Marma</a:t>
            </a:r>
            <a:r>
              <a:rPr lang="en-US" dirty="0">
                <a:cs typeface="Times New Roman"/>
              </a:rPr>
              <a:t> dataset physically from students.</a:t>
            </a:r>
          </a:p>
          <a:p>
            <a:pPr marL="171450" indent="-171450" algn="l">
              <a:spcBef>
                <a:spcPts val="0"/>
              </a:spcBef>
              <a:buFont typeface="Arial" panose="020B0604020202020204" pitchFamily="34" charset="0"/>
              <a:buChar char="•"/>
            </a:pPr>
            <a:endParaRPr lang="en-US" dirty="0">
              <a:cs typeface="Times New Roman"/>
            </a:endParaRPr>
          </a:p>
          <a:p>
            <a:pPr marL="171450" indent="-171450" algn="l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dirty="0">
                <a:cs typeface="Times New Roman"/>
              </a:rPr>
              <a:t>Label all collected sentences properly.</a:t>
            </a:r>
          </a:p>
          <a:p>
            <a:pPr marL="171450" indent="-171450" algn="l">
              <a:spcBef>
                <a:spcPts val="0"/>
              </a:spcBef>
              <a:buFont typeface="Arial" panose="020B0604020202020204" pitchFamily="34" charset="0"/>
              <a:buChar char="•"/>
            </a:pPr>
            <a:endParaRPr lang="en-US" dirty="0">
              <a:cs typeface="Times New Roman"/>
            </a:endParaRPr>
          </a:p>
          <a:p>
            <a:pPr marL="171450" indent="-171450" algn="l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dirty="0">
                <a:cs typeface="Times New Roman"/>
              </a:rPr>
              <a:t>Perform Data Cleaning, Tokenization, </a:t>
            </a:r>
            <a:r>
              <a:rPr lang="en-US" dirty="0" err="1">
                <a:cs typeface="Times New Roman"/>
              </a:rPr>
              <a:t>Stopword</a:t>
            </a:r>
            <a:r>
              <a:rPr lang="en-US" dirty="0">
                <a:cs typeface="Times New Roman"/>
              </a:rPr>
              <a:t> Removal, N-gram Vectorization, and Train–Test Split on the dataset.</a:t>
            </a:r>
          </a:p>
          <a:p>
            <a:pPr marL="171450" indent="-171450" algn="l">
              <a:spcBef>
                <a:spcPts val="0"/>
              </a:spcBef>
              <a:buFont typeface="Arial" panose="020B0604020202020204" pitchFamily="34" charset="0"/>
              <a:buChar char="•"/>
            </a:pPr>
            <a:endParaRPr lang="en-US" dirty="0">
              <a:cs typeface="Times New Roman"/>
            </a:endParaRPr>
          </a:p>
          <a:p>
            <a:pPr marL="171450" indent="-171450" algn="l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dirty="0"/>
              <a:t>Train and test multiple models (Logistic Regression, SVM, KNN, Decision Tree) for accuracy comparison</a:t>
            </a:r>
            <a:r>
              <a:rPr lang="en-US" dirty="0" smtClean="0"/>
              <a:t>.</a:t>
            </a:r>
          </a:p>
          <a:p>
            <a:pPr algn="l">
              <a:spcBef>
                <a:spcPts val="0"/>
              </a:spcBef>
            </a:pPr>
            <a:endParaRPr lang="en-US" dirty="0">
              <a:cs typeface="Times New Roman"/>
            </a:endParaRPr>
          </a:p>
          <a:p>
            <a:pPr marL="171450" indent="-171450" algn="l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dirty="0">
                <a:cs typeface="Times New Roman"/>
              </a:rPr>
              <a:t>Select the best-performing model for thesis finalization.</a:t>
            </a:r>
          </a:p>
        </p:txBody>
      </p:sp>
      <p:sp>
        <p:nvSpPr>
          <p:cNvPr id="4" name="Rectangle 3"/>
          <p:cNvSpPr/>
          <p:nvPr/>
        </p:nvSpPr>
        <p:spPr>
          <a:xfrm>
            <a:off x="-1" y="6491348"/>
            <a:ext cx="12192000" cy="402712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 smtClean="0">
              <a:solidFill>
                <a:schemeClr val="accent6">
                  <a:lumMod val="50000"/>
                </a:schemeClr>
              </a:solidFill>
              <a:latin typeface="Agency FB" panose="020B0503020202020204" pitchFamily="34" charset="0"/>
            </a:endParaRPr>
          </a:p>
          <a:p>
            <a:pPr algn="ctr"/>
            <a:r>
              <a:rPr lang="en-US" sz="1600" b="1" dirty="0" smtClean="0">
                <a:solidFill>
                  <a:schemeClr val="bg1"/>
                </a:solidFill>
              </a:rPr>
              <a:t>Department </a:t>
            </a:r>
            <a:r>
              <a:rPr lang="en-US" sz="1600" b="1" dirty="0">
                <a:solidFill>
                  <a:schemeClr val="bg1"/>
                </a:solidFill>
              </a:rPr>
              <a:t>of Computer Science and Engineering</a:t>
            </a:r>
          </a:p>
          <a:p>
            <a:pPr algn="ctr"/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18113" y="106176"/>
            <a:ext cx="936139" cy="9785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816152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112"/>
    </mc:Choice>
    <mc:Fallback>
      <p:transition spd="slow" advTm="1112"/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42109" y="470762"/>
            <a:ext cx="7620000" cy="779928"/>
          </a:xfrm>
        </p:spPr>
        <p:txBody>
          <a:bodyPr>
            <a:normAutofit fontScale="90000"/>
          </a:bodyPr>
          <a:lstStyle/>
          <a:p>
            <a:pPr marL="457200" indent="-457200" algn="l">
              <a:buFont typeface="+mj-lt"/>
              <a:buAutoNum type="arabicPeriod"/>
            </a:pPr>
            <a:r>
              <a:rPr lang="en-US" sz="4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4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4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4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4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4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4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4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4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4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4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4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4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4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4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4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4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4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4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4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4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4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4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4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4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4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4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4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4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4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4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4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4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4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4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4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4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4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4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4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4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4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4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4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4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4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4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4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4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4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4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4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4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4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4400" b="1" dirty="0" smtClean="0">
                <a:solidFill>
                  <a:schemeClr val="accent6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Related Works</a:t>
            </a:r>
            <a:endParaRPr lang="en-US" sz="4400" b="1" dirty="0">
              <a:solidFill>
                <a:schemeClr val="accent6">
                  <a:lumMod val="75000"/>
                </a:schemeClr>
              </a:solidFill>
              <a:latin typeface="+mn-lt"/>
              <a:cs typeface="Times New Roman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27018" y="1818045"/>
            <a:ext cx="9945324" cy="3939988"/>
          </a:xfrm>
        </p:spPr>
        <p:txBody>
          <a:bodyPr>
            <a:normAutofit/>
          </a:bodyPr>
          <a:lstStyle/>
          <a:p>
            <a:pPr marL="285750" indent="-285750" algn="l">
              <a:spcAft>
                <a:spcPts val="2400"/>
              </a:spcAft>
              <a:buFont typeface="Arial" panose="020B0604020202020204" pitchFamily="34" charset="0"/>
              <a:buChar char="•"/>
            </a:pPr>
            <a:r>
              <a:rPr lang="en-US" sz="1800" b="1" dirty="0" smtClean="0"/>
              <a:t> </a:t>
            </a:r>
            <a:r>
              <a:rPr lang="en-US" sz="1800" b="1" dirty="0">
                <a:hlinkClick r:id="rId2"/>
              </a:rPr>
              <a:t>Bengali Sentiment Analysis – </a:t>
            </a:r>
            <a:r>
              <a:rPr lang="en-US" sz="1800" b="1" i="1" dirty="0">
                <a:hlinkClick r:id="rId2"/>
              </a:rPr>
              <a:t>Md. </a:t>
            </a:r>
            <a:r>
              <a:rPr lang="en-US" sz="1800" b="1" i="1" dirty="0" err="1">
                <a:hlinkClick r:id="rId2"/>
              </a:rPr>
              <a:t>Saiful</a:t>
            </a:r>
            <a:r>
              <a:rPr lang="en-US" sz="1800" b="1" i="1" dirty="0">
                <a:hlinkClick r:id="rId2"/>
              </a:rPr>
              <a:t> </a:t>
            </a:r>
            <a:r>
              <a:rPr lang="en-US" sz="1800" b="1" i="1" dirty="0" smtClean="0">
                <a:hlinkClick r:id="rId2"/>
              </a:rPr>
              <a:t>Islam, 2016</a:t>
            </a:r>
            <a:endParaRPr lang="en-US" sz="1800" b="1" i="1" dirty="0"/>
          </a:p>
          <a:p>
            <a:pPr marL="285750" indent="-285750" algn="l">
              <a:spcAft>
                <a:spcPts val="2400"/>
              </a:spcAft>
              <a:buFont typeface="Arial" panose="020B0604020202020204" pitchFamily="34" charset="0"/>
              <a:buChar char="•"/>
            </a:pPr>
            <a:r>
              <a:rPr lang="en-US" sz="1800" b="1" dirty="0" smtClean="0"/>
              <a:t> </a:t>
            </a:r>
            <a:r>
              <a:rPr lang="en-US" sz="1800" b="1" dirty="0">
                <a:hlinkClick r:id="rId3"/>
              </a:rPr>
              <a:t>Hindi Sentiment Analysis </a:t>
            </a:r>
            <a:r>
              <a:rPr lang="en-US" sz="1800" b="1" dirty="0" smtClean="0">
                <a:hlinkClick r:id="rId3"/>
              </a:rPr>
              <a:t>– </a:t>
            </a:r>
            <a:r>
              <a:rPr lang="en-US" sz="1800" b="1" i="1" dirty="0" err="1" smtClean="0">
                <a:hlinkClick r:id="rId3"/>
              </a:rPr>
              <a:t>Sheetal</a:t>
            </a:r>
            <a:r>
              <a:rPr lang="en-US" sz="1800" b="1" dirty="0" smtClean="0">
                <a:hlinkClick r:id="rId3"/>
              </a:rPr>
              <a:t> </a:t>
            </a:r>
            <a:r>
              <a:rPr lang="en-US" sz="1800" b="1" i="1" dirty="0">
                <a:hlinkClick r:id="rId3"/>
              </a:rPr>
              <a:t>Sharma, </a:t>
            </a:r>
            <a:r>
              <a:rPr lang="en-US" sz="1800" b="1" i="1" dirty="0" smtClean="0">
                <a:hlinkClick r:id="rId3"/>
              </a:rPr>
              <a:t>2018</a:t>
            </a:r>
            <a:endParaRPr lang="en-US" sz="1800" b="1" dirty="0" smtClean="0"/>
          </a:p>
          <a:p>
            <a:pPr marL="285750" indent="-285750" algn="l">
              <a:spcAft>
                <a:spcPts val="2400"/>
              </a:spcAft>
              <a:buFont typeface="Arial" panose="020B0604020202020204" pitchFamily="34" charset="0"/>
              <a:buChar char="•"/>
            </a:pPr>
            <a:r>
              <a:rPr lang="en-US" sz="1800" b="1" dirty="0" smtClean="0"/>
              <a:t> </a:t>
            </a:r>
            <a:r>
              <a:rPr lang="en-US" sz="1800" b="1" dirty="0">
                <a:hlinkClick r:id="rId4"/>
              </a:rPr>
              <a:t>Urdu Sentiment Analysis </a:t>
            </a:r>
            <a:r>
              <a:rPr lang="en-US" sz="1800" b="1" dirty="0" smtClean="0">
                <a:hlinkClick r:id="rId4"/>
              </a:rPr>
              <a:t>– </a:t>
            </a:r>
            <a:r>
              <a:rPr lang="en-US" sz="1800" b="1" i="1" dirty="0" smtClean="0">
                <a:hlinkClick r:id="rId4"/>
              </a:rPr>
              <a:t>Mohammad </a:t>
            </a:r>
            <a:r>
              <a:rPr lang="en-US" sz="1800" b="1" i="1" dirty="0" err="1" smtClean="0">
                <a:hlinkClick r:id="rId4"/>
              </a:rPr>
              <a:t>Abid</a:t>
            </a:r>
            <a:r>
              <a:rPr lang="en-US" sz="1800" b="1" i="1" dirty="0" smtClean="0">
                <a:hlinkClick r:id="rId4"/>
              </a:rPr>
              <a:t> </a:t>
            </a:r>
            <a:r>
              <a:rPr lang="en-US" sz="1800" b="1" i="1" dirty="0">
                <a:hlinkClick r:id="rId4"/>
              </a:rPr>
              <a:t>Khan, 2017</a:t>
            </a:r>
            <a:endParaRPr lang="en-US" sz="1800" b="1" dirty="0"/>
          </a:p>
          <a:p>
            <a:pPr marL="285750" indent="-285750" algn="l">
              <a:spcAft>
                <a:spcPts val="2400"/>
              </a:spcAft>
              <a:buFont typeface="Arial" panose="020B0604020202020204" pitchFamily="34" charset="0"/>
              <a:buChar char="•"/>
            </a:pPr>
            <a:r>
              <a:rPr lang="en-US" sz="1800" b="1" dirty="0" smtClean="0"/>
              <a:t> </a:t>
            </a:r>
            <a:r>
              <a:rPr lang="en-US" sz="1800" b="1" dirty="0">
                <a:hlinkClick r:id="rId5"/>
              </a:rPr>
              <a:t>Arabic Sentiment Analysis </a:t>
            </a:r>
            <a:r>
              <a:rPr lang="en-US" sz="1800" b="1" dirty="0" smtClean="0">
                <a:hlinkClick r:id="rId5"/>
              </a:rPr>
              <a:t>– </a:t>
            </a:r>
            <a:r>
              <a:rPr lang="en-US" sz="1800" b="1" i="1" dirty="0" smtClean="0">
                <a:hlinkClick r:id="rId5"/>
              </a:rPr>
              <a:t>Ahmad</a:t>
            </a:r>
            <a:r>
              <a:rPr lang="en-US" sz="1800" b="1" dirty="0" smtClean="0">
                <a:hlinkClick r:id="rId5"/>
              </a:rPr>
              <a:t> </a:t>
            </a:r>
            <a:r>
              <a:rPr lang="en-US" sz="1800" b="1" i="1" dirty="0">
                <a:hlinkClick r:id="rId5"/>
              </a:rPr>
              <a:t>Al-</a:t>
            </a:r>
            <a:r>
              <a:rPr lang="en-US" sz="1800" b="1" i="1" dirty="0" err="1">
                <a:hlinkClick r:id="rId5"/>
              </a:rPr>
              <a:t>Sallab</a:t>
            </a:r>
            <a:r>
              <a:rPr lang="en-US" sz="1800" b="1" i="1" dirty="0">
                <a:hlinkClick r:id="rId5"/>
              </a:rPr>
              <a:t>, 2015</a:t>
            </a:r>
            <a:endParaRPr lang="en-US" sz="1800" b="1" dirty="0"/>
          </a:p>
          <a:p>
            <a:pPr marL="285750" indent="-285750" algn="l">
              <a:spcAft>
                <a:spcPts val="2400"/>
              </a:spcAft>
              <a:buFont typeface="Arial" panose="020B0604020202020204" pitchFamily="34" charset="0"/>
              <a:buChar char="•"/>
            </a:pPr>
            <a:r>
              <a:rPr lang="en-US" sz="1800" b="1" dirty="0" smtClean="0"/>
              <a:t> </a:t>
            </a:r>
            <a:r>
              <a:rPr lang="en-US" sz="1800" b="1" dirty="0">
                <a:hlinkClick r:id="rId6"/>
              </a:rPr>
              <a:t>Myanmar/Burmese Sentiment Analysis – </a:t>
            </a:r>
            <a:r>
              <a:rPr lang="en-US" sz="1800" b="1" i="1" dirty="0" smtClean="0">
                <a:hlinkClick r:id="rId6"/>
              </a:rPr>
              <a:t>Yu Mon Aye</a:t>
            </a:r>
            <a:r>
              <a:rPr lang="en-US" sz="1800" b="1" i="1" dirty="0">
                <a:hlinkClick r:id="rId6"/>
              </a:rPr>
              <a:t>, </a:t>
            </a:r>
            <a:r>
              <a:rPr lang="en-US" sz="1800" b="1" i="1" dirty="0" smtClean="0">
                <a:hlinkClick r:id="rId6"/>
              </a:rPr>
              <a:t>2018</a:t>
            </a:r>
            <a:endParaRPr lang="en-US" sz="1800" b="1" dirty="0"/>
          </a:p>
        </p:txBody>
      </p:sp>
      <p:sp>
        <p:nvSpPr>
          <p:cNvPr id="4" name="Rectangle 3"/>
          <p:cNvSpPr/>
          <p:nvPr/>
        </p:nvSpPr>
        <p:spPr>
          <a:xfrm>
            <a:off x="-1" y="6491348"/>
            <a:ext cx="12192000" cy="402712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 smtClean="0">
              <a:solidFill>
                <a:schemeClr val="accent6">
                  <a:lumMod val="50000"/>
                </a:schemeClr>
              </a:solidFill>
              <a:latin typeface="Agency FB" panose="020B0503020202020204" pitchFamily="34" charset="0"/>
            </a:endParaRPr>
          </a:p>
          <a:p>
            <a:pPr algn="ctr"/>
            <a:r>
              <a:rPr lang="en-US" sz="1600" b="1" dirty="0" smtClean="0">
                <a:solidFill>
                  <a:schemeClr val="bg1"/>
                </a:solidFill>
              </a:rPr>
              <a:t>Department </a:t>
            </a:r>
            <a:r>
              <a:rPr lang="en-US" sz="1600" b="1" dirty="0">
                <a:solidFill>
                  <a:schemeClr val="bg1"/>
                </a:solidFill>
              </a:rPr>
              <a:t>of Computer Science and Engineering</a:t>
            </a:r>
          </a:p>
          <a:p>
            <a:pPr algn="ctr"/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18113" y="106176"/>
            <a:ext cx="936139" cy="9785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08534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675"/>
    </mc:Choice>
    <mc:Fallback>
      <p:transition spd="slow" advTm="675"/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42109" y="595453"/>
            <a:ext cx="7620000" cy="779928"/>
          </a:xfrm>
        </p:spPr>
        <p:txBody>
          <a:bodyPr>
            <a:normAutofit fontScale="90000"/>
          </a:bodyPr>
          <a:lstStyle/>
          <a:p>
            <a:pPr marL="457200" indent="-457200" algn="l">
              <a:buFont typeface="+mj-lt"/>
              <a:buAutoNum type="arabicPeriod"/>
            </a:pPr>
            <a:r>
              <a:rPr lang="en-US" sz="4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4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4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4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4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4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4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4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4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4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4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4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4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4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4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4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4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4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4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4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4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4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4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4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4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4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4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4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4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4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4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4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4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4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4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4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4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4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4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4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4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4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4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4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4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4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4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4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4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4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4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4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4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4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4400" b="1" dirty="0" smtClean="0">
                <a:solidFill>
                  <a:schemeClr val="accent6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Conclusion</a:t>
            </a:r>
            <a:endParaRPr lang="en-US" sz="4400" b="1" dirty="0">
              <a:solidFill>
                <a:schemeClr val="accent6">
                  <a:lumMod val="75000"/>
                </a:schemeClr>
              </a:solidFill>
              <a:latin typeface="+mn-lt"/>
              <a:cs typeface="Times New Roman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28672" y="2260709"/>
            <a:ext cx="9945324" cy="3939988"/>
          </a:xfrm>
        </p:spPr>
        <p:txBody>
          <a:bodyPr>
            <a:normAutofit/>
          </a:bodyPr>
          <a:lstStyle/>
          <a:p>
            <a:pPr marL="342900" indent="-342900" algn="l">
              <a:spcAft>
                <a:spcPts val="2400"/>
              </a:spcAft>
              <a:buFont typeface="Arial" panose="020B0604020202020204" pitchFamily="34" charset="0"/>
              <a:buChar char="•"/>
            </a:pPr>
            <a:r>
              <a:rPr lang="en-US" dirty="0"/>
              <a:t>This thesis is still in progress, and we will work on sentiment analysis for the Marma language.</a:t>
            </a:r>
            <a:br>
              <a:rPr lang="en-US" dirty="0"/>
            </a:br>
            <a:endParaRPr lang="en-US" dirty="0" smtClean="0"/>
          </a:p>
          <a:p>
            <a:pPr marL="342900" indent="-342900" algn="l">
              <a:spcAft>
                <a:spcPts val="2400"/>
              </a:spcAft>
              <a:buFont typeface="Arial" panose="020B0604020202020204" pitchFamily="34" charset="0"/>
              <a:buChar char="•"/>
            </a:pPr>
            <a:r>
              <a:rPr lang="en-US" smtClean="0"/>
              <a:t>We </a:t>
            </a:r>
            <a:r>
              <a:rPr lang="en-US" dirty="0"/>
              <a:t>will develop a dataset and apply various machine learning methods.</a:t>
            </a:r>
            <a:r>
              <a:rPr lang="en-US"/>
              <a:t/>
            </a:r>
            <a:br>
              <a:rPr lang="en-US"/>
            </a:br>
            <a:endParaRPr lang="en-US" smtClean="0"/>
          </a:p>
          <a:p>
            <a:pPr marL="342900" indent="-342900" algn="l">
              <a:spcAft>
                <a:spcPts val="2400"/>
              </a:spcAft>
              <a:buFont typeface="Arial" panose="020B0604020202020204" pitchFamily="34" charset="0"/>
              <a:buChar char="•"/>
            </a:pPr>
            <a:r>
              <a:rPr lang="en-US" dirty="0" smtClean="0"/>
              <a:t>Overall</a:t>
            </a:r>
            <a:r>
              <a:rPr lang="en-US" dirty="0"/>
              <a:t>, this work will guide future research and support the digital development of the Marma language.</a:t>
            </a:r>
          </a:p>
        </p:txBody>
      </p:sp>
      <p:sp>
        <p:nvSpPr>
          <p:cNvPr id="4" name="Rectangle 3"/>
          <p:cNvSpPr/>
          <p:nvPr/>
        </p:nvSpPr>
        <p:spPr>
          <a:xfrm>
            <a:off x="-1" y="6491348"/>
            <a:ext cx="12192000" cy="402712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 smtClean="0">
              <a:solidFill>
                <a:schemeClr val="accent6">
                  <a:lumMod val="50000"/>
                </a:schemeClr>
              </a:solidFill>
              <a:latin typeface="Agency FB" panose="020B0503020202020204" pitchFamily="34" charset="0"/>
            </a:endParaRPr>
          </a:p>
          <a:p>
            <a:pPr algn="ctr"/>
            <a:r>
              <a:rPr lang="en-US" sz="1600" b="1" dirty="0" smtClean="0">
                <a:solidFill>
                  <a:schemeClr val="bg1"/>
                </a:solidFill>
              </a:rPr>
              <a:t>Department </a:t>
            </a:r>
            <a:r>
              <a:rPr lang="en-US" sz="1600" b="1" dirty="0">
                <a:solidFill>
                  <a:schemeClr val="bg1"/>
                </a:solidFill>
              </a:rPr>
              <a:t>of Computer Science and Engineering</a:t>
            </a:r>
          </a:p>
          <a:p>
            <a:pPr algn="ctr"/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18113" y="106176"/>
            <a:ext cx="936139" cy="9785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470966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781"/>
    </mc:Choice>
    <mc:Fallback>
      <p:transition spd="slow" advTm="1781"/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66183" y="3529277"/>
            <a:ext cx="7620000" cy="779928"/>
          </a:xfrm>
        </p:spPr>
        <p:txBody>
          <a:bodyPr>
            <a:normAutofit fontScale="90000"/>
          </a:bodyPr>
          <a:lstStyle/>
          <a:p>
            <a:pPr algn="l"/>
            <a:r>
              <a:rPr lang="en-US" sz="4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4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4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4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4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4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4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4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4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4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4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4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4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4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4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4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4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4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4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4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4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4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4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4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4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4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4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4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4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4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4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4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4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4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4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4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4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4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4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4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4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4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4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4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4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4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4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4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4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4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4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4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4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4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4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4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6700" b="1" dirty="0" smtClean="0">
                <a:solidFill>
                  <a:schemeClr val="accent6">
                    <a:lumMod val="50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Thank You</a:t>
            </a:r>
            <a:endParaRPr lang="en-US" sz="6700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-1" y="6491348"/>
            <a:ext cx="12192000" cy="402712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 smtClean="0">
              <a:solidFill>
                <a:schemeClr val="accent6">
                  <a:lumMod val="50000"/>
                </a:schemeClr>
              </a:solidFill>
              <a:latin typeface="Agency FB" panose="020B0503020202020204" pitchFamily="34" charset="0"/>
            </a:endParaRPr>
          </a:p>
          <a:p>
            <a:pPr algn="ctr"/>
            <a:r>
              <a:rPr lang="en-US" sz="1600" b="1" dirty="0" smtClean="0">
                <a:solidFill>
                  <a:schemeClr val="bg1"/>
                </a:solidFill>
              </a:rPr>
              <a:t>Department </a:t>
            </a:r>
            <a:r>
              <a:rPr lang="en-US" sz="1600" b="1" dirty="0">
                <a:solidFill>
                  <a:schemeClr val="bg1"/>
                </a:solidFill>
              </a:rPr>
              <a:t>of Computer Science and Engineering</a:t>
            </a:r>
          </a:p>
          <a:p>
            <a:pPr algn="ctr"/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18113" y="106176"/>
            <a:ext cx="936139" cy="9785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642794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45"/>
    </mc:Choice>
    <mc:Fallback>
      <p:transition spd="slow" advTm="245"/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2067</TotalTime>
  <Words>973</Words>
  <Application>Microsoft Office PowerPoint</Application>
  <PresentationFormat>Widescreen</PresentationFormat>
  <Paragraphs>179</Paragraphs>
  <Slides>19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7" baseType="lpstr">
      <vt:lpstr>Agency FB</vt:lpstr>
      <vt:lpstr>Arial</vt:lpstr>
      <vt:lpstr>Calibri</vt:lpstr>
      <vt:lpstr>Calibri Light</vt:lpstr>
      <vt:lpstr>Times New Roman</vt:lpstr>
      <vt:lpstr>Vrinda</vt:lpstr>
      <vt:lpstr>Wingdings</vt:lpstr>
      <vt:lpstr>Office Theme</vt:lpstr>
      <vt:lpstr>Gopalganj Science and Technology University</vt:lpstr>
      <vt:lpstr>                             Presentation Outline</vt:lpstr>
      <vt:lpstr>PowerPoint Presentation</vt:lpstr>
      <vt:lpstr>                          Research gap</vt:lpstr>
      <vt:lpstr>                       Objectives</vt:lpstr>
      <vt:lpstr>                             Dataset Descriptions</vt:lpstr>
      <vt:lpstr>                             Methodology</vt:lpstr>
      <vt:lpstr>                           Methodology(Cont..)</vt:lpstr>
      <vt:lpstr>                           Methodology(Cont..)</vt:lpstr>
      <vt:lpstr>                           Methodology(Cont..)</vt:lpstr>
      <vt:lpstr>                           Methodology(Cont..)</vt:lpstr>
      <vt:lpstr>                           Methodology(Cont..)</vt:lpstr>
      <vt:lpstr> Machine Learning Models</vt:lpstr>
      <vt:lpstr>                       Expected Results</vt:lpstr>
      <vt:lpstr>                       Completed Work Summary</vt:lpstr>
      <vt:lpstr>                       Pending Works</vt:lpstr>
      <vt:lpstr>                           Related Works</vt:lpstr>
      <vt:lpstr>                           Conclusion</vt:lpstr>
      <vt:lpstr>                             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WALTON</dc:creator>
  <cp:lastModifiedBy>walton</cp:lastModifiedBy>
  <cp:revision>176</cp:revision>
  <dcterms:created xsi:type="dcterms:W3CDTF">2023-07-17T06:20:37Z</dcterms:created>
  <dcterms:modified xsi:type="dcterms:W3CDTF">2025-12-01T04:25:05Z</dcterms:modified>
</cp:coreProperties>
</file>